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6" r:id="rId3"/>
    <p:sldId id="307" r:id="rId4"/>
    <p:sldId id="309" r:id="rId5"/>
    <p:sldId id="308" r:id="rId6"/>
    <p:sldId id="310" r:id="rId7"/>
    <p:sldId id="311" r:id="rId8"/>
    <p:sldId id="312" r:id="rId9"/>
    <p:sldId id="313" r:id="rId10"/>
    <p:sldId id="314" r:id="rId11"/>
    <p:sldId id="31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75" autoAdjust="0"/>
    <p:restoredTop sz="94660"/>
  </p:normalViewPr>
  <p:slideViewPr>
    <p:cSldViewPr snapToGrid="0">
      <p:cViewPr>
        <p:scale>
          <a:sx n="200" d="100"/>
          <a:sy n="200" d="100"/>
        </p:scale>
        <p:origin x="-1925" y="-1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D190A-986E-55F3-731A-2E3F7DF61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B75FFE-5CAF-A710-CA41-51F0780781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322B8-EDD9-9EAF-0447-01965136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F8E6B-2458-4ACD-9BF6-530439149C3A}" type="datetimeFigureOut">
              <a:rPr lang="en-CA" smtClean="0"/>
              <a:t>2023-06-07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B81C9-1962-F61B-D1E5-60A853E9B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DF683-2032-A33B-5C97-D333D667D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2C39-5D12-47D4-9E1F-918489408A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2064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563F-0255-916B-E33E-406745DA7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27DA3-3D0D-916F-AA74-A4700242D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15E7C-3624-645D-184F-D605A8B44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F8E6B-2458-4ACD-9BF6-530439149C3A}" type="datetimeFigureOut">
              <a:rPr lang="en-CA" smtClean="0"/>
              <a:t>2023-06-07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8C27C-E8BC-15AC-6C03-78B191A77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01CFB-0C14-C612-3BC5-A2265EEE6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2C39-5D12-47D4-9E1F-918489408A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8999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70B2B-E688-1719-D411-ABC0BBA3E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8249B-DDC2-6F3E-DCBD-58CCD79B8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9D034-1A46-86DB-0FA4-2A81AB33D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F8E6B-2458-4ACD-9BF6-530439149C3A}" type="datetimeFigureOut">
              <a:rPr lang="en-CA" smtClean="0"/>
              <a:t>2023-06-07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0BF60-7A56-795B-0026-200A76941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D0223-FFF8-4412-D84F-586040B93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2C39-5D12-47D4-9E1F-918489408A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2802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53215-3C25-58CA-B0D1-7D1091A21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D8D9-F17B-58B2-A7C1-81DA9CD74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023F5-5346-F2AC-C9C9-00FB0518C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A4EC31-59B2-7821-F42C-917CCD82A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F8E6B-2458-4ACD-9BF6-530439149C3A}" type="datetimeFigureOut">
              <a:rPr lang="en-CA" smtClean="0"/>
              <a:t>2023-06-07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8CAF2-5F21-7163-0737-F935E9FDD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20457-4F83-B26C-C09F-15709D18B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2C39-5D12-47D4-9E1F-918489408A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9999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A307B-BBC8-632D-B10E-E17022E1C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96AE9-7A0C-5C96-73B3-A16F96FFC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4C95DB-1C5B-C57F-ADE0-8D8507465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31918E-7FB3-EA00-7FAD-D2A785717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5572E4-DAB5-CE4E-9858-5A3894D3F6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892A3F-BF0B-DDC6-27F2-0010F2ECB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F8E6B-2458-4ACD-9BF6-530439149C3A}" type="datetimeFigureOut">
              <a:rPr lang="en-CA" smtClean="0"/>
              <a:t>2023-06-07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210F32-A321-DE64-CEF4-893FDBE22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47F94B-9A77-66ED-D521-30AF327EC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2C39-5D12-47D4-9E1F-918489408A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294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A133A-C0F8-C024-4FCB-F3F67FBCA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68DBFD-7FFA-F361-433E-DD5B82EFE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F8E6B-2458-4ACD-9BF6-530439149C3A}" type="datetimeFigureOut">
              <a:rPr lang="en-CA" smtClean="0"/>
              <a:t>2023-06-07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D64062-DECA-078E-6112-2A4979350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00DDC7-2158-BE90-2FD0-327A49C14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2C39-5D12-47D4-9E1F-918489408A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4110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5A7D6B-9581-EC18-3AAC-79E40E41C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F8E6B-2458-4ACD-9BF6-530439149C3A}" type="datetimeFigureOut">
              <a:rPr lang="en-CA" smtClean="0"/>
              <a:t>2023-06-07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9A1F2E-74B8-B8B4-1C2B-0883A49E7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94256-FDBF-91AA-02B9-C999F9872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2C39-5D12-47D4-9E1F-918489408A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1040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D0E14-7CDF-F700-E54A-9CC386F21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6BDA2-A254-36A3-AFC7-0D579D92E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8EF87-42C3-77DC-43DA-96317093A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BEB6C-48D3-6EA8-6E8F-EC061174F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F8E6B-2458-4ACD-9BF6-530439149C3A}" type="datetimeFigureOut">
              <a:rPr lang="en-CA" smtClean="0"/>
              <a:t>2023-06-07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46510-A12B-4C33-218F-1C11574FC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8B978B-0DE6-16BE-45F8-BFE5B87E2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2C39-5D12-47D4-9E1F-918489408A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2461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BA49D-DFD8-2E48-9133-62E0E466B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60586C-763C-9490-D9FD-A15496E01B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A796C5-F2C8-0362-6D94-E6D550EEC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D5F7E-EB17-B049-359D-07BA194A1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F8E6B-2458-4ACD-9BF6-530439149C3A}" type="datetimeFigureOut">
              <a:rPr lang="en-CA" smtClean="0"/>
              <a:t>2023-06-07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B0334-2263-3E9A-AD1E-AACF6B051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F4160-4126-1EA6-B59E-8FD993770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2C39-5D12-47D4-9E1F-918489408A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3088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CBB13-99F7-97C8-C3A5-A5984865F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94F3C3-CA02-72BE-AC88-8B2599C10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1CCBC-53BA-FE66-6782-22ADB87E4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F8E6B-2458-4ACD-9BF6-530439149C3A}" type="datetimeFigureOut">
              <a:rPr lang="en-CA" smtClean="0"/>
              <a:t>2023-06-07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C62BC-B77B-8C57-A9BD-4C6F4FC4F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6DAF2-C8D8-A371-19B1-B60A2D79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2C39-5D12-47D4-9E1F-918489408A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8679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09237C-0AC4-8D9C-AC9B-C6014AB96D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E22671-B3A7-3C9B-DCDE-B36442EEB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9848D-FF69-CF84-87C9-7A9EA5308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F8E6B-2458-4ACD-9BF6-530439149C3A}" type="datetimeFigureOut">
              <a:rPr lang="en-CA" smtClean="0"/>
              <a:t>2023-06-07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472F7-41AE-4C0A-2F1F-83908D090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AFC3D-D35C-06A8-4229-A7DEF2B97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2C39-5D12-47D4-9E1F-918489408A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1652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460B3A-0672-E6B4-9F32-9D1A4A4BD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ACCD5-A0C3-C4D9-54A6-69051F8CA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FE4D7-18DE-C884-8DDB-9C50D67EE7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F8E6B-2458-4ACD-9BF6-530439149C3A}" type="datetimeFigureOut">
              <a:rPr lang="en-CA" smtClean="0"/>
              <a:t>2023-06-07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10E6C-C897-02F3-D5D6-D9326E591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572C9-0F3D-9B11-E40C-75E905574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82C39-5D12-47D4-9E1F-918489408A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4094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3BCA1-D993-F161-1C7E-E5423B52FE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Support Kusto Query Language natively in </a:t>
            </a:r>
            <a:r>
              <a:rPr lang="en-US" dirty="0" err="1"/>
              <a:t>ClickHouse</a:t>
            </a:r>
            <a:r>
              <a:rPr lang="en-CA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E448B-F0DF-FDC1-676B-8115A8AC41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June 8 , 2023</a:t>
            </a:r>
          </a:p>
        </p:txBody>
      </p:sp>
    </p:spTree>
    <p:extLst>
      <p:ext uri="{BB962C8B-B14F-4D97-AF65-F5344CB8AC3E}">
        <p14:creationId xmlns:p14="http://schemas.microsoft.com/office/powerpoint/2010/main" val="107660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68C5-6A30-E62A-93DC-B56BA6602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CEB49-516D-BA15-E7A1-D560382F3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4000" dirty="0"/>
              <a:t>Phase3 Update</a:t>
            </a:r>
          </a:p>
          <a:p>
            <a:endParaRPr lang="en-CA" sz="4000" dirty="0"/>
          </a:p>
          <a:p>
            <a:r>
              <a:rPr lang="en-CA" sz="4000" dirty="0"/>
              <a:t>Phase2 </a:t>
            </a:r>
            <a:r>
              <a:rPr lang="en-CA" sz="4000" dirty="0" err="1"/>
              <a:t>Staus</a:t>
            </a:r>
            <a:endParaRPr lang="en-CA" sz="4000" dirty="0"/>
          </a:p>
          <a:p>
            <a:endParaRPr lang="en-CA" sz="4000" dirty="0"/>
          </a:p>
          <a:p>
            <a:r>
              <a:rPr lang="en-CA" sz="4000" dirty="0"/>
              <a:t>Upcoming for phase3</a:t>
            </a:r>
          </a:p>
        </p:txBody>
      </p:sp>
    </p:spTree>
    <p:extLst>
      <p:ext uri="{BB962C8B-B14F-4D97-AF65-F5344CB8AC3E}">
        <p14:creationId xmlns:p14="http://schemas.microsoft.com/office/powerpoint/2010/main" val="878284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C691D-9295-2DBE-34EF-372B9A573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New Features:</a:t>
            </a:r>
            <a:br>
              <a:rPr lang="en-CA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21DA9-98C8-2503-B378-104AF10B6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b="1" dirty="0"/>
              <a:t>Save intervals to tables </a:t>
            </a:r>
          </a:p>
          <a:p>
            <a:pPr marL="457200" lvl="1" indent="0">
              <a:buNone/>
            </a:pPr>
            <a:r>
              <a:rPr lang="en-US" dirty="0"/>
              <a:t>INSERT INTO t1 WITH toDateTime64('2023-01-01 00:00:00.000000001', 9, 'US/Eastern') AS c</a:t>
            </a:r>
          </a:p>
          <a:p>
            <a:pPr marL="457200" lvl="1" indent="0">
              <a:buNone/>
            </a:pPr>
            <a:r>
              <a:rPr lang="en-US" dirty="0"/>
              <a:t>SELECT </a:t>
            </a:r>
            <a:r>
              <a:rPr lang="en-US" dirty="0" err="1"/>
              <a:t>toMinute</a:t>
            </a:r>
            <a:r>
              <a:rPr lang="en-US" dirty="0"/>
              <a:t>(c + </a:t>
            </a:r>
            <a:r>
              <a:rPr lang="en-US" dirty="0" err="1">
                <a:solidFill>
                  <a:schemeClr val="accent1"/>
                </a:solidFill>
              </a:rPr>
              <a:t>toIntervalSecond</a:t>
            </a:r>
            <a:r>
              <a:rPr lang="en-US" dirty="0"/>
              <a:t>(number * 60))</a:t>
            </a:r>
          </a:p>
          <a:p>
            <a:pPr marL="457200" lvl="1" indent="0">
              <a:buNone/>
            </a:pPr>
            <a:r>
              <a:rPr lang="en-US" dirty="0"/>
              <a:t>FROM numbers(2)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CA" dirty="0"/>
              <a:t>SELECT *</a:t>
            </a:r>
          </a:p>
          <a:p>
            <a:pPr marL="457200" lvl="1" indent="0">
              <a:buNone/>
            </a:pPr>
            <a:r>
              <a:rPr lang="en-CA" dirty="0"/>
              <a:t>FROM t1</a:t>
            </a:r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r>
              <a:rPr lang="en-CA" dirty="0"/>
              <a:t>┌───────v1─┐</a:t>
            </a:r>
          </a:p>
          <a:p>
            <a:pPr marL="457200" lvl="1" indent="0">
              <a:buNone/>
            </a:pPr>
            <a:r>
              <a:rPr lang="en-CA" dirty="0"/>
              <a:t>│ 00:00:00     │</a:t>
            </a:r>
          </a:p>
          <a:p>
            <a:pPr marL="457200" lvl="1" indent="0">
              <a:buNone/>
            </a:pPr>
            <a:r>
              <a:rPr lang="en-CA" dirty="0"/>
              <a:t>│ 00:01:00     │</a:t>
            </a:r>
          </a:p>
          <a:p>
            <a:pPr marL="457200" lvl="1" indent="0">
              <a:buNone/>
            </a:pPr>
            <a:r>
              <a:rPr lang="en-CA" dirty="0"/>
              <a:t>└──────────┘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3074720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D7BA1-5484-A3C1-3FAF-A6EC21D1B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Time span in KQL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C8FDA-59E6-6421-EF1B-889AE542C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TABLE kql_table1 ENGINE = Memory AS select *, now() as </a:t>
            </a:r>
            <a:r>
              <a:rPr lang="en-US" dirty="0" err="1"/>
              <a:t>new_column</a:t>
            </a:r>
            <a:r>
              <a:rPr lang="en-US" dirty="0"/>
              <a:t> From </a:t>
            </a:r>
            <a:r>
              <a:rPr lang="en-US" dirty="0" err="1"/>
              <a:t>kql</a:t>
            </a:r>
            <a:r>
              <a:rPr lang="en-US" dirty="0"/>
              <a:t>(print days=2d*3 | take 1)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kql_table1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┌───────days─┬──────────</a:t>
            </a:r>
            <a:r>
              <a:rPr lang="en-CA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new_column</a:t>
            </a: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─┐</a:t>
            </a:r>
          </a:p>
          <a:p>
            <a:pPr marL="0" indent="0">
              <a:buNone/>
            </a:pP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│ 6.00:00:00 │ 2023-06-07 13:06:15 │</a:t>
            </a:r>
          </a:p>
          <a:p>
            <a:pPr marL="0" indent="0">
              <a:buNone/>
            </a:pP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└────────────┴─────────────────────┘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710027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64CB8-B385-86BE-8823-042EC9CEF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F2328"/>
                </a:solidFill>
                <a:latin typeface="-apple-system"/>
              </a:rPr>
              <a:t>I</a:t>
            </a:r>
            <a:r>
              <a:rPr lang="en-US" i="0" dirty="0">
                <a:solidFill>
                  <a:srgbClr val="1F2328"/>
                </a:solidFill>
                <a:effectLst/>
                <a:latin typeface="-apple-system"/>
              </a:rPr>
              <a:t>gnore </a:t>
            </a:r>
            <a:r>
              <a:rPr lang="en-US" i="0" dirty="0" err="1">
                <a:solidFill>
                  <a:srgbClr val="1F2328"/>
                </a:solidFill>
                <a:effectLst/>
                <a:latin typeface="-apple-system"/>
              </a:rPr>
              <a:t>skippings</a:t>
            </a:r>
            <a:r>
              <a:rPr lang="en-US" i="0" dirty="0">
                <a:solidFill>
                  <a:srgbClr val="1F2328"/>
                </a:solidFill>
                <a:effectLst/>
                <a:latin typeface="-apple-system"/>
              </a:rPr>
              <a:t> indexes for a query </a:t>
            </a:r>
            <a:br>
              <a:rPr lang="en-US" b="1" i="0" dirty="0">
                <a:solidFill>
                  <a:srgbClr val="1F2328"/>
                </a:solidFill>
                <a:effectLst/>
                <a:latin typeface="-apple-system"/>
              </a:rPr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CDDE5-436F-F189-9EF7-32685D6EB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Why :</a:t>
            </a:r>
          </a:p>
          <a:p>
            <a:pPr marL="457200" lvl="1" indent="0">
              <a:buNone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Sometimes large indexes are created that are not needed as other smaller indexes are preferred</a:t>
            </a:r>
          </a:p>
          <a:p>
            <a:pPr marL="457200" lvl="1" indent="0">
              <a:buNone/>
            </a:pP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How:</a:t>
            </a:r>
          </a:p>
          <a:p>
            <a:pPr marL="0" indent="0">
              <a:buNone/>
            </a:pP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SETTINGS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ignore_data_skipping_indices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 index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8133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C2B1D-933D-0255-EC29-95D7408A6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40CCD-57DC-F264-AC2A-25E967121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DROP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data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x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y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x_idx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minmax GRANULARITY 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y_idx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minmax GRANULARITY 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xy_idx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minmax GRANULARITY 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Engine=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MergeTree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ORDER BY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INSERT INTO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7374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CC6D3-3FEA-DF0D-4B91-3D68BD057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6107"/>
          </a:xfrm>
        </p:spPr>
        <p:txBody>
          <a:bodyPr>
            <a:normAutofit/>
          </a:bodyPr>
          <a:lstStyle/>
          <a:p>
            <a:r>
              <a:rPr lang="en-US" sz="2800" b="0" i="0" dirty="0">
                <a:solidFill>
                  <a:srgbClr val="1F2328"/>
                </a:solidFill>
                <a:effectLst/>
                <a:latin typeface="ui-monospace"/>
              </a:rPr>
              <a:t>EXPLAIN indexes </a:t>
            </a:r>
            <a:r>
              <a:rPr lang="en-US" sz="2800" b="0" i="0" dirty="0">
                <a:effectLst/>
                <a:latin typeface="ui-monospace"/>
              </a:rPr>
              <a:t>=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ui-monospace"/>
              </a:rPr>
              <a:t> </a:t>
            </a:r>
            <a:r>
              <a:rPr lang="en-US" sz="2800" b="0" i="0" dirty="0">
                <a:effectLst/>
                <a:latin typeface="ui-monospace"/>
              </a:rPr>
              <a:t>1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ui-monospace"/>
              </a:rPr>
              <a:t> </a:t>
            </a:r>
            <a:r>
              <a:rPr lang="en-US" sz="2800" b="0" i="0" dirty="0">
                <a:effectLst/>
                <a:latin typeface="ui-monospace"/>
              </a:rPr>
              <a:t>SELECT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ui-monospace"/>
              </a:rPr>
              <a:t> </a:t>
            </a:r>
            <a:r>
              <a:rPr lang="en-US" sz="2800" b="0" i="0" dirty="0">
                <a:effectLst/>
                <a:latin typeface="ui-monospace"/>
              </a:rPr>
              <a:t>*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ui-monospace"/>
              </a:rPr>
              <a:t> </a:t>
            </a:r>
            <a:r>
              <a:rPr lang="en-US" sz="2800" b="0" i="0" dirty="0">
                <a:effectLst/>
                <a:latin typeface="ui-monospace"/>
              </a:rPr>
              <a:t>FROM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ui-monospace"/>
              </a:rPr>
              <a:t> data </a:t>
            </a:r>
            <a:r>
              <a:rPr lang="en-US" sz="2800" b="0" i="0" dirty="0">
                <a:effectLst/>
                <a:latin typeface="ui-monospace"/>
              </a:rPr>
              <a:t>WHERE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ui-monospace"/>
              </a:rPr>
              <a:t> x </a:t>
            </a:r>
            <a:r>
              <a:rPr lang="en-US" sz="2800" b="0" i="0" dirty="0">
                <a:effectLst/>
                <a:latin typeface="ui-monospace"/>
              </a:rPr>
              <a:t>=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ui-monospace"/>
              </a:rPr>
              <a:t> </a:t>
            </a:r>
            <a:r>
              <a:rPr lang="en-US" sz="2800" b="0" i="0" dirty="0">
                <a:effectLst/>
                <a:latin typeface="ui-monospace"/>
              </a:rPr>
              <a:t>1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ui-monospace"/>
              </a:rPr>
              <a:t> </a:t>
            </a:r>
            <a:r>
              <a:rPr lang="en-US" sz="2800" b="0" i="0" dirty="0">
                <a:effectLst/>
                <a:latin typeface="ui-monospace"/>
              </a:rPr>
              <a:t>AND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ui-monospace"/>
              </a:rPr>
              <a:t> y </a:t>
            </a:r>
            <a:r>
              <a:rPr lang="en-US" sz="2800" b="0" i="0" dirty="0">
                <a:effectLst/>
                <a:latin typeface="ui-monospace"/>
              </a:rPr>
              <a:t>=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ui-monospace"/>
              </a:rPr>
              <a:t> </a:t>
            </a:r>
            <a:r>
              <a:rPr lang="en-US" sz="2800" b="0" i="0" dirty="0">
                <a:effectLst/>
                <a:latin typeface="ui-monospace"/>
              </a:rPr>
              <a:t>2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ui-monospace"/>
              </a:rPr>
              <a:t>;</a:t>
            </a:r>
            <a:endParaRPr lang="en-CA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30C45-5454-B7B0-3238-A67F160DD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498"/>
            <a:ext cx="10515600" cy="52064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800" dirty="0"/>
              <a:t>┌─</a:t>
            </a: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explain─────────────────────────────────────┐</a:t>
            </a:r>
          </a:p>
          <a:p>
            <a:pPr marL="0" indent="0">
              <a:buNone/>
            </a:pP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 Expression ((Projection + Before ORDER BY)) │</a:t>
            </a:r>
          </a:p>
          <a:p>
            <a:pPr marL="0" indent="0">
              <a:buNone/>
            </a:pP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Filter (WHERE)                            │</a:t>
            </a:r>
          </a:p>
          <a:p>
            <a:pPr marL="0" indent="0">
              <a:buNone/>
            </a:pP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</a:t>
            </a:r>
            <a:r>
              <a:rPr lang="en-CA" sz="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ReadFromMergeTree</a:t>
            </a: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 (_</a:t>
            </a:r>
            <a:r>
              <a:rPr lang="en-CA" sz="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local.data</a:t>
            </a: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)         │</a:t>
            </a:r>
          </a:p>
          <a:p>
            <a:pPr marL="0" indent="0">
              <a:buNone/>
            </a:pP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Indexes:                                │</a:t>
            </a:r>
          </a:p>
          <a:p>
            <a:pPr marL="0" indent="0">
              <a:buNone/>
            </a:pP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</a:t>
            </a:r>
            <a:r>
              <a:rPr lang="en-CA" sz="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PrimaryKey</a:t>
            </a: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                   │</a:t>
            </a:r>
          </a:p>
          <a:p>
            <a:pPr marL="0" indent="0">
              <a:buNone/>
            </a:pP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Condition: true                     │</a:t>
            </a:r>
          </a:p>
          <a:p>
            <a:pPr marL="0" indent="0">
              <a:buNone/>
            </a:pP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Parts: 1/1                          │</a:t>
            </a:r>
          </a:p>
          <a:p>
            <a:pPr marL="0" indent="0">
              <a:buNone/>
            </a:pP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Granules: 1/1                       │</a:t>
            </a:r>
          </a:p>
          <a:p>
            <a:pPr marL="0" indent="0">
              <a:buNone/>
            </a:pP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Skip                                  │</a:t>
            </a:r>
          </a:p>
          <a:p>
            <a:pPr marL="0" indent="0">
              <a:buNone/>
            </a:pP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Name: </a:t>
            </a:r>
            <a:r>
              <a:rPr lang="en-CA" sz="8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x_idx</a:t>
            </a:r>
            <a:r>
              <a:rPr lang="en-CA" sz="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               │</a:t>
            </a:r>
          </a:p>
          <a:p>
            <a:pPr marL="0" indent="0">
              <a:buNone/>
            </a:pP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Description: minmax GRANULARITY 1   │</a:t>
            </a:r>
          </a:p>
          <a:p>
            <a:pPr marL="0" indent="0">
              <a:buNone/>
            </a:pP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Parts: 0/1                          │</a:t>
            </a:r>
          </a:p>
          <a:p>
            <a:pPr marL="0" indent="0">
              <a:buNone/>
            </a:pP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Granules: 0/1                       │</a:t>
            </a:r>
          </a:p>
          <a:p>
            <a:pPr marL="0" indent="0">
              <a:buNone/>
            </a:pP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Skip                                  │</a:t>
            </a:r>
          </a:p>
          <a:p>
            <a:pPr marL="0" indent="0">
              <a:buNone/>
            </a:pP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Name: </a:t>
            </a:r>
            <a:r>
              <a:rPr lang="en-CA" sz="8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y_idx</a:t>
            </a:r>
            <a:r>
              <a:rPr lang="en-CA" sz="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                </a:t>
            </a: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</a:t>
            </a:r>
          </a:p>
          <a:p>
            <a:pPr marL="0" indent="0">
              <a:buNone/>
            </a:pP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Description: minmax GRANULARITY 1   │</a:t>
            </a:r>
          </a:p>
          <a:p>
            <a:pPr marL="0" indent="0">
              <a:buNone/>
            </a:pP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Parts: 0/0                          │</a:t>
            </a:r>
          </a:p>
          <a:p>
            <a:pPr marL="0" indent="0">
              <a:buNone/>
            </a:pP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Granules: 0/0                       │</a:t>
            </a:r>
          </a:p>
          <a:p>
            <a:pPr marL="0" indent="0">
              <a:buNone/>
            </a:pP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Skip                                  │</a:t>
            </a:r>
          </a:p>
          <a:p>
            <a:pPr marL="0" indent="0">
              <a:buNone/>
            </a:pP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Name: </a:t>
            </a:r>
            <a:r>
              <a:rPr lang="en-CA" sz="8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xy_idx</a:t>
            </a:r>
            <a:r>
              <a:rPr lang="en-CA" sz="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               </a:t>
            </a: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</a:t>
            </a:r>
          </a:p>
          <a:p>
            <a:pPr marL="0" indent="0">
              <a:buNone/>
            </a:pP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Description: minmax GRANULARITY 1   │</a:t>
            </a:r>
          </a:p>
          <a:p>
            <a:pPr marL="0" indent="0">
              <a:buNone/>
            </a:pP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Parts: 0/0                          │</a:t>
            </a:r>
          </a:p>
          <a:p>
            <a:pPr marL="0" indent="0">
              <a:buNone/>
            </a:pP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Granules: 0/0                       │</a:t>
            </a:r>
          </a:p>
          <a:p>
            <a:pPr marL="0" indent="0">
              <a:buNone/>
            </a:pPr>
            <a:r>
              <a:rPr lang="en-CA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└─────────────────────────────────────────────┘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3918283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FF601-CE35-2579-1E64-7EA5AE6A4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13388" cy="616593"/>
          </a:xfrm>
        </p:spPr>
        <p:txBody>
          <a:bodyPr>
            <a:normAutofit/>
          </a:bodyPr>
          <a:lstStyle/>
          <a:p>
            <a:r>
              <a:rPr lang="en-US" sz="1800" dirty="0"/>
              <a:t>EXPLAIN indexes = 1 SELECT * FROM data WHERE x = 1 AND y = 2 SETTINGS </a:t>
            </a:r>
            <a:r>
              <a:rPr lang="en-US" sz="1800" dirty="0" err="1"/>
              <a:t>ignore_data_skipping_indices</a:t>
            </a:r>
            <a:r>
              <a:rPr lang="en-US" sz="1800" dirty="0"/>
              <a:t>='</a:t>
            </a:r>
            <a:r>
              <a:rPr lang="en-US" sz="1800" dirty="0" err="1"/>
              <a:t>xy_idx</a:t>
            </a:r>
            <a:r>
              <a:rPr lang="en-US" sz="1800" dirty="0"/>
              <a:t>';</a:t>
            </a:r>
            <a:endParaRPr lang="en-CA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B723E-3A99-BFC0-0BB7-B917E62E8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1718"/>
            <a:ext cx="10515600" cy="5195245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┌─explain─────────────────────────────────────┐</a:t>
            </a:r>
          </a:p>
          <a:p>
            <a:pPr marL="0" indent="0">
              <a:buNone/>
            </a:pP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│ Expression ((Projection + Before ORDER BY)) │</a:t>
            </a:r>
          </a:p>
          <a:p>
            <a:pPr marL="0" indent="0">
              <a:buNone/>
            </a:pP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Filter (WHERE)                            │</a:t>
            </a:r>
          </a:p>
          <a:p>
            <a:pPr marL="0" indent="0">
              <a:buNone/>
            </a:pP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</a:t>
            </a:r>
            <a:r>
              <a:rPr lang="en-CA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ReadFromMergeTree</a:t>
            </a: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 (_</a:t>
            </a:r>
            <a:r>
              <a:rPr lang="en-CA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local.data</a:t>
            </a: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)         │</a:t>
            </a:r>
          </a:p>
          <a:p>
            <a:pPr marL="0" indent="0">
              <a:buNone/>
            </a:pP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Indexes:                                │</a:t>
            </a:r>
          </a:p>
          <a:p>
            <a:pPr marL="0" indent="0">
              <a:buNone/>
            </a:pP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</a:t>
            </a:r>
            <a:r>
              <a:rPr lang="en-CA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PrimaryKey</a:t>
            </a: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                   │</a:t>
            </a:r>
          </a:p>
          <a:p>
            <a:pPr marL="0" indent="0">
              <a:buNone/>
            </a:pP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Condition: true                     │</a:t>
            </a:r>
          </a:p>
          <a:p>
            <a:pPr marL="0" indent="0">
              <a:buNone/>
            </a:pP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Parts: 1/1                          │</a:t>
            </a:r>
          </a:p>
          <a:p>
            <a:pPr marL="0" indent="0">
              <a:buNone/>
            </a:pP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Granules: 1/1                       │</a:t>
            </a:r>
          </a:p>
          <a:p>
            <a:pPr marL="0" indent="0">
              <a:buNone/>
            </a:pP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Skip                                  │</a:t>
            </a:r>
          </a:p>
          <a:p>
            <a:pPr marL="0" indent="0">
              <a:buNone/>
            </a:pP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Name: </a:t>
            </a:r>
            <a:r>
              <a:rPr lang="en-CA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x_idx</a:t>
            </a: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                │</a:t>
            </a:r>
          </a:p>
          <a:p>
            <a:pPr marL="0" indent="0">
              <a:buNone/>
            </a:pP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Description: minmax GRANULARITY 1   │</a:t>
            </a:r>
          </a:p>
          <a:p>
            <a:pPr marL="0" indent="0">
              <a:buNone/>
            </a:pP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Parts: 0/1                          │</a:t>
            </a:r>
          </a:p>
          <a:p>
            <a:pPr marL="0" indent="0">
              <a:buNone/>
            </a:pP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Granules: 0/1                       │</a:t>
            </a:r>
          </a:p>
          <a:p>
            <a:pPr marL="0" indent="0">
              <a:buNone/>
            </a:pP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Skip                                  │</a:t>
            </a:r>
          </a:p>
          <a:p>
            <a:pPr marL="0" indent="0">
              <a:buNone/>
            </a:pP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Name: </a:t>
            </a:r>
            <a:r>
              <a:rPr lang="en-CA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y_idx</a:t>
            </a:r>
            <a:r>
              <a:rPr lang="en-CA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                </a:t>
            </a: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│</a:t>
            </a:r>
          </a:p>
          <a:p>
            <a:pPr marL="0" indent="0">
              <a:buNone/>
            </a:pP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Description: minmax GRANULARITY 1   │</a:t>
            </a:r>
          </a:p>
          <a:p>
            <a:pPr marL="0" indent="0">
              <a:buNone/>
            </a:pP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Parts: 0/0                          │</a:t>
            </a:r>
          </a:p>
          <a:p>
            <a:pPr marL="0" indent="0">
              <a:buNone/>
            </a:pP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│         Granules: 0/0                       │</a:t>
            </a:r>
          </a:p>
          <a:p>
            <a:pPr marL="0" indent="0">
              <a:buNone/>
            </a:pPr>
            <a:r>
              <a:rPr lang="en-CA" dirty="0">
                <a:latin typeface="Cascadia Code" panose="020B0609020000020004" pitchFamily="49" charset="0"/>
                <a:cs typeface="Cascadia Code" panose="020B0609020000020004" pitchFamily="49" charset="0"/>
              </a:rPr>
              <a:t>└─────────────────────────────────────────────┘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986348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72518-CC8B-0831-C1F2-00E49DD73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Bug Fixed: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03934-B207-660E-9B86-22B48C5C2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  <a:t>core dump if there is no closing parenthesis</a:t>
            </a:r>
          </a:p>
          <a:p>
            <a:pPr marL="457200" lvl="1" indent="0">
              <a:buNone/>
            </a:pPr>
            <a:r>
              <a:rPr lang="en-CA" b="0" i="0" dirty="0">
                <a:solidFill>
                  <a:schemeClr val="accent1"/>
                </a:solidFill>
                <a:effectLst/>
                <a:latin typeface="-apple-system"/>
              </a:rPr>
              <a:t> select * from </a:t>
            </a:r>
            <a:r>
              <a:rPr lang="en-CA" b="0" i="0" dirty="0" err="1">
                <a:solidFill>
                  <a:schemeClr val="accent1"/>
                </a:solidFill>
                <a:effectLst/>
                <a:latin typeface="-apple-system"/>
              </a:rPr>
              <a:t>kql</a:t>
            </a:r>
            <a:r>
              <a:rPr lang="en-CA" b="0" i="0" dirty="0">
                <a:solidFill>
                  <a:schemeClr val="accent1"/>
                </a:solidFill>
                <a:effectLst/>
                <a:latin typeface="-apple-system"/>
              </a:rPr>
              <a:t>(</a:t>
            </a:r>
          </a:p>
          <a:p>
            <a:pPr marL="457200" lvl="1" indent="0">
              <a:buNone/>
            </a:pPr>
            <a:r>
              <a:rPr lang="en-CA" dirty="0">
                <a:latin typeface="-apple-system"/>
              </a:rPr>
              <a:t>Before : core dump</a:t>
            </a:r>
          </a:p>
          <a:p>
            <a:pPr marL="457200" lvl="1" indent="0">
              <a:buNone/>
            </a:pPr>
            <a:r>
              <a:rPr lang="en-CA" dirty="0"/>
              <a:t>Now  throw exception:   Unmatched parentheses: (</a:t>
            </a:r>
          </a:p>
          <a:p>
            <a:r>
              <a:rPr lang="en-US" dirty="0" err="1"/>
              <a:t>countof</a:t>
            </a:r>
            <a:r>
              <a:rPr lang="en-US" dirty="0"/>
              <a:t> returns wrong number of matches  </a:t>
            </a:r>
          </a:p>
          <a:p>
            <a:pPr marL="0" indent="0"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92F"/>
                </a:solidFill>
                <a:effectLst/>
                <a:latin typeface="ui-monospace"/>
              </a:rPr>
              <a:t>	print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24292F"/>
                </a:solidFill>
                <a:effectLst/>
                <a:latin typeface="ui-monospace"/>
              </a:rPr>
              <a:t>countof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92F"/>
                </a:solidFill>
                <a:effectLst/>
                <a:latin typeface="ui-monospace"/>
              </a:rPr>
              <a:t>("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24292F"/>
                </a:solidFill>
                <a:effectLst/>
                <a:latin typeface="ui-monospace"/>
              </a:rPr>
              <a:t>aaaa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92F"/>
                </a:solidFill>
                <a:effectLst/>
                <a:latin typeface="ui-monospace"/>
              </a:rPr>
              <a:t>", "aa");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</a:t>
            </a:r>
          </a:p>
          <a:p>
            <a:pPr marL="0" indent="0">
              <a:buNone/>
            </a:pPr>
            <a:r>
              <a:rPr lang="en-US" sz="800" dirty="0"/>
              <a:t>	</a:t>
            </a:r>
            <a:r>
              <a:rPr lang="en-US" sz="2400" dirty="0">
                <a:solidFill>
                  <a:schemeClr val="accent1"/>
                </a:solidFill>
              </a:rPr>
              <a:t>Result was 2, the correct result is 3</a:t>
            </a:r>
          </a:p>
          <a:p>
            <a:r>
              <a:rPr lang="en-US" dirty="0" err="1"/>
              <a:t>arg_max</a:t>
            </a:r>
            <a:r>
              <a:rPr lang="en-US" dirty="0"/>
              <a:t> or </a:t>
            </a:r>
            <a:r>
              <a:rPr lang="en-US" dirty="0" err="1"/>
              <a:t>arg_min</a:t>
            </a:r>
            <a:r>
              <a:rPr lang="en-US" dirty="0"/>
              <a:t> have fewer than 2 arguments</a:t>
            </a:r>
          </a:p>
          <a:p>
            <a:pPr marL="0" indent="0">
              <a:buNone/>
            </a:pPr>
            <a:r>
              <a:rPr lang="en-CA" sz="2400" dirty="0">
                <a:solidFill>
                  <a:schemeClr val="accent1"/>
                </a:solidFill>
              </a:rPr>
              <a:t>	in KQL, there need 2 </a:t>
            </a:r>
            <a:r>
              <a:rPr lang="en-CA" sz="2400" dirty="0" err="1">
                <a:solidFill>
                  <a:schemeClr val="accent1"/>
                </a:solidFill>
              </a:rPr>
              <a:t>args</a:t>
            </a:r>
            <a:r>
              <a:rPr lang="en-CA" sz="2400" dirty="0">
                <a:solidFill>
                  <a:schemeClr val="accent1"/>
                </a:solidFill>
              </a:rPr>
              <a:t> and more</a:t>
            </a:r>
          </a:p>
        </p:txBody>
      </p:sp>
    </p:spTree>
    <p:extLst>
      <p:ext uri="{BB962C8B-B14F-4D97-AF65-F5344CB8AC3E}">
        <p14:creationId xmlns:p14="http://schemas.microsoft.com/office/powerpoint/2010/main" val="144103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5C3FA-585E-EF4C-CCBC-BBDF64B9A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Phase2 OSS PR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9C019-2B86-11A3-B9BF-F7DBF482A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Changes:</a:t>
            </a:r>
          </a:p>
          <a:p>
            <a:pPr lvl="1"/>
            <a:r>
              <a:rPr lang="en-CA" dirty="0"/>
              <a:t> dialect , </a:t>
            </a:r>
            <a:r>
              <a:rPr lang="en-CA" dirty="0" err="1">
                <a:solidFill>
                  <a:schemeClr val="accent1"/>
                </a:solidFill>
              </a:rPr>
              <a:t>kusto_auto</a:t>
            </a:r>
            <a:r>
              <a:rPr lang="en-CA" dirty="0">
                <a:solidFill>
                  <a:schemeClr val="accent1"/>
                </a:solidFill>
              </a:rPr>
              <a:t> </a:t>
            </a:r>
            <a:r>
              <a:rPr lang="en-CA" dirty="0"/>
              <a:t>not support any more</a:t>
            </a:r>
          </a:p>
          <a:p>
            <a:pPr lvl="2"/>
            <a:r>
              <a:rPr lang="en-CA" dirty="0">
                <a:solidFill>
                  <a:schemeClr val="accent1"/>
                </a:solidFill>
              </a:rPr>
              <a:t>Set dialect  = ‘</a:t>
            </a:r>
            <a:r>
              <a:rPr lang="en-CA" dirty="0" err="1">
                <a:solidFill>
                  <a:schemeClr val="accent1"/>
                </a:solidFill>
              </a:rPr>
              <a:t>clickhouse</a:t>
            </a:r>
            <a:r>
              <a:rPr lang="en-CA" dirty="0">
                <a:solidFill>
                  <a:schemeClr val="accent1"/>
                </a:solidFill>
              </a:rPr>
              <a:t>’   and  set dialect = ‘</a:t>
            </a:r>
            <a:r>
              <a:rPr lang="en-CA" dirty="0" err="1">
                <a:solidFill>
                  <a:schemeClr val="accent1"/>
                </a:solidFill>
              </a:rPr>
              <a:t>kusto</a:t>
            </a:r>
            <a:r>
              <a:rPr lang="en-CA" dirty="0"/>
              <a:t>’</a:t>
            </a:r>
          </a:p>
          <a:p>
            <a:pPr lvl="1"/>
            <a:r>
              <a:rPr lang="en-CA" dirty="0"/>
              <a:t> </a:t>
            </a:r>
            <a:r>
              <a:rPr lang="en-CA" dirty="0" err="1"/>
              <a:t>kql</a:t>
            </a:r>
            <a:r>
              <a:rPr lang="en-CA" dirty="0"/>
              <a:t> function, changed from sub-query to table function</a:t>
            </a:r>
          </a:p>
          <a:p>
            <a:pPr marL="914400" lvl="2" indent="0">
              <a:buNone/>
            </a:pPr>
            <a:r>
              <a:rPr lang="en-CA" dirty="0">
                <a:solidFill>
                  <a:schemeClr val="accent1"/>
                </a:solidFill>
              </a:rPr>
              <a:t>Select * from  </a:t>
            </a:r>
            <a:r>
              <a:rPr lang="en-CA" dirty="0" err="1">
                <a:solidFill>
                  <a:schemeClr val="accent1"/>
                </a:solidFill>
              </a:rPr>
              <a:t>kql</a:t>
            </a:r>
            <a:r>
              <a:rPr lang="en-CA" dirty="0">
                <a:solidFill>
                  <a:schemeClr val="accent1"/>
                </a:solidFill>
              </a:rPr>
              <a:t>(</a:t>
            </a:r>
            <a:r>
              <a:rPr lang="en-CA" dirty="0" err="1">
                <a:solidFill>
                  <a:schemeClr val="accent1"/>
                </a:solidFill>
              </a:rPr>
              <a:t>Customers|project</a:t>
            </a:r>
            <a:r>
              <a:rPr lang="en-CA" dirty="0">
                <a:solidFill>
                  <a:schemeClr val="accent1"/>
                </a:solidFill>
              </a:rPr>
              <a:t> FirstName)  </a:t>
            </a:r>
          </a:p>
          <a:p>
            <a:pPr marL="914400" lvl="2" indent="0">
              <a:buNone/>
            </a:pPr>
            <a:r>
              <a:rPr lang="en-CA" dirty="0"/>
              <a:t>Generated SQL will from </a:t>
            </a:r>
            <a:r>
              <a:rPr lang="en-US" dirty="0">
                <a:solidFill>
                  <a:schemeClr val="accent1"/>
                </a:solidFill>
              </a:rPr>
              <a:t>SELECT * FROM (SELECT First, Name FROM Customers)</a:t>
            </a:r>
            <a:endParaRPr lang="en-CA" dirty="0">
              <a:solidFill>
                <a:schemeClr val="accent1"/>
              </a:solidFill>
            </a:endParaRPr>
          </a:p>
          <a:p>
            <a:pPr marL="914400" lvl="2" indent="0">
              <a:buNone/>
            </a:pPr>
            <a:r>
              <a:rPr lang="en-CA" dirty="0">
                <a:solidFill>
                  <a:schemeClr val="accent1"/>
                </a:solidFill>
              </a:rPr>
              <a:t>To </a:t>
            </a:r>
            <a:r>
              <a:rPr lang="en-US" dirty="0">
                <a:solidFill>
                  <a:schemeClr val="accent1"/>
                </a:solidFill>
              </a:rPr>
              <a:t>SELECT * FROM view(SELECT First, Name FROM Customers) </a:t>
            </a:r>
          </a:p>
          <a:p>
            <a:pPr marL="914400" lvl="2" indent="0">
              <a:buNone/>
            </a:pPr>
            <a:endParaRPr lang="en-CA" dirty="0">
              <a:solidFill>
                <a:schemeClr val="accent1"/>
              </a:solidFill>
            </a:endParaRPr>
          </a:p>
          <a:p>
            <a:r>
              <a:rPr lang="en-CA" dirty="0"/>
              <a:t>PR Status</a:t>
            </a:r>
          </a:p>
          <a:p>
            <a:r>
              <a:rPr lang="en-CA" dirty="0"/>
              <a:t> there were, some function test failure due to bugs in Analyzer and Fuzzing test.</a:t>
            </a:r>
          </a:p>
          <a:p>
            <a:r>
              <a:rPr lang="en-CA" dirty="0"/>
              <a:t>Only one issue related with Fuzzing test  (will done soon)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672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64CC8-8E6F-5996-C267-7EFAB9DB1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32A8C-DD11-0B17-8182-EFB4B41A7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Optimization:</a:t>
            </a:r>
          </a:p>
          <a:p>
            <a:pPr marL="457200" lvl="1" indent="0">
              <a:buNone/>
            </a:pPr>
            <a:r>
              <a:rPr lang="en-CA" dirty="0"/>
              <a:t> the </a:t>
            </a:r>
            <a:r>
              <a:rPr lang="en-CA" dirty="0" err="1"/>
              <a:t>kql</a:t>
            </a:r>
            <a:r>
              <a:rPr lang="en-CA" dirty="0"/>
              <a:t> convert is a universal method for all operators, so some optimizations are necessary to improve the performance, for example:</a:t>
            </a:r>
          </a:p>
          <a:p>
            <a:pPr marL="457200" lvl="1" indent="0">
              <a:buNone/>
            </a:pPr>
            <a:r>
              <a:rPr lang="en-US" sz="1900" dirty="0">
                <a:solidFill>
                  <a:schemeClr val="accent1"/>
                </a:solidFill>
              </a:rPr>
              <a:t>Ledger | extend </a:t>
            </a:r>
            <a:r>
              <a:rPr lang="en-US" sz="1900" dirty="0" err="1">
                <a:solidFill>
                  <a:schemeClr val="accent1"/>
                </a:solidFill>
              </a:rPr>
              <a:t>PriceInCents</a:t>
            </a:r>
            <a:r>
              <a:rPr lang="en-US" sz="1900" dirty="0">
                <a:solidFill>
                  <a:schemeClr val="accent1"/>
                </a:solidFill>
              </a:rPr>
              <a:t> = 100 * Price | take 2;</a:t>
            </a:r>
          </a:p>
          <a:p>
            <a:pPr marL="457200" lvl="1" indent="0">
              <a:buNone/>
            </a:pPr>
            <a:r>
              <a:rPr lang="en-US" sz="1900" dirty="0">
                <a:solidFill>
                  <a:schemeClr val="accent1"/>
                </a:solidFill>
              </a:rPr>
              <a:t>SELECT * FROM ( SELECT * EXCEPT </a:t>
            </a:r>
            <a:r>
              <a:rPr lang="en-US" sz="1900" dirty="0" err="1">
                <a:solidFill>
                  <a:schemeClr val="accent1"/>
                </a:solidFill>
              </a:rPr>
              <a:t>PriceInCents</a:t>
            </a:r>
            <a:r>
              <a:rPr lang="en-US" sz="1900" dirty="0">
                <a:solidFill>
                  <a:schemeClr val="accent1"/>
                </a:solidFill>
              </a:rPr>
              <a:t>, 100 * Price AS </a:t>
            </a:r>
            <a:r>
              <a:rPr lang="en-US" sz="1900" dirty="0" err="1">
                <a:solidFill>
                  <a:schemeClr val="accent1"/>
                </a:solidFill>
              </a:rPr>
              <a:t>PriceInCents</a:t>
            </a:r>
            <a:r>
              <a:rPr lang="en-US" sz="1900" dirty="0">
                <a:solidFill>
                  <a:schemeClr val="accent1"/>
                </a:solidFill>
              </a:rPr>
              <a:t>  FROM Ledger) LIMIT 2</a:t>
            </a:r>
          </a:p>
          <a:p>
            <a:pPr marL="457200" lvl="1" indent="0">
              <a:buNone/>
            </a:pPr>
            <a:r>
              <a:rPr lang="en-US" sz="1900" dirty="0">
                <a:solidFill>
                  <a:schemeClr val="accent1"/>
                </a:solidFill>
              </a:rPr>
              <a:t>can be optimized to :</a:t>
            </a:r>
          </a:p>
          <a:p>
            <a:pPr marL="457200" lvl="1" indent="0">
              <a:buNone/>
            </a:pPr>
            <a:r>
              <a:rPr lang="en-US" sz="1900" dirty="0">
                <a:solidFill>
                  <a:schemeClr val="accent1"/>
                </a:solidFill>
              </a:rPr>
              <a:t>SELECT * EXCEPT </a:t>
            </a:r>
            <a:r>
              <a:rPr lang="en-US" sz="1900" dirty="0" err="1">
                <a:solidFill>
                  <a:schemeClr val="accent1"/>
                </a:solidFill>
              </a:rPr>
              <a:t>PriceInCents</a:t>
            </a:r>
            <a:r>
              <a:rPr lang="en-US" sz="1900" dirty="0">
                <a:solidFill>
                  <a:schemeClr val="accent1"/>
                </a:solidFill>
              </a:rPr>
              <a:t>, 100 * Price AS </a:t>
            </a:r>
            <a:r>
              <a:rPr lang="en-US" sz="1900" dirty="0" err="1">
                <a:solidFill>
                  <a:schemeClr val="accent1"/>
                </a:solidFill>
              </a:rPr>
              <a:t>PriceInCents</a:t>
            </a:r>
            <a:r>
              <a:rPr lang="en-US" sz="1900" dirty="0">
                <a:solidFill>
                  <a:schemeClr val="accent1"/>
                </a:solidFill>
              </a:rPr>
              <a:t> FROM Ledger  LIMIT 2</a:t>
            </a:r>
            <a:endParaRPr lang="en-CA" sz="1900" dirty="0">
              <a:solidFill>
                <a:schemeClr val="accent1"/>
              </a:solidFill>
            </a:endParaRPr>
          </a:p>
          <a:p>
            <a:r>
              <a:rPr lang="en-CA" dirty="0"/>
              <a:t>Bug fix: </a:t>
            </a:r>
          </a:p>
          <a:p>
            <a:pPr marL="457200" lvl="1" indent="0">
              <a:buNone/>
            </a:pPr>
            <a:r>
              <a:rPr lang="en-CA" dirty="0"/>
              <a:t>Continue bug fix</a:t>
            </a:r>
          </a:p>
          <a:p>
            <a:r>
              <a:rPr lang="en-CA" dirty="0"/>
              <a:t>New features  </a:t>
            </a:r>
          </a:p>
          <a:p>
            <a:pPr marL="457200" lvl="1" indent="0">
              <a:buNone/>
            </a:pPr>
            <a:r>
              <a:rPr lang="en-CA" dirty="0"/>
              <a:t>Will add new features according to the request by priority</a:t>
            </a:r>
          </a:p>
        </p:txBody>
      </p:sp>
    </p:spTree>
    <p:extLst>
      <p:ext uri="{BB962C8B-B14F-4D97-AF65-F5344CB8AC3E}">
        <p14:creationId xmlns:p14="http://schemas.microsoft.com/office/powerpoint/2010/main" val="1447942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4920</TotalTime>
  <Words>801</Words>
  <Application>Microsoft Office PowerPoint</Application>
  <PresentationFormat>Widescreen</PresentationFormat>
  <Paragraphs>130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-apple-system</vt:lpstr>
      <vt:lpstr>Arial</vt:lpstr>
      <vt:lpstr>Calibri</vt:lpstr>
      <vt:lpstr>Calibri Light</vt:lpstr>
      <vt:lpstr>Cascadia Code</vt:lpstr>
      <vt:lpstr>Consolas</vt:lpstr>
      <vt:lpstr>ui-monospace</vt:lpstr>
      <vt:lpstr>Office Theme</vt:lpstr>
      <vt:lpstr>Support Kusto Query Language natively in ClickHouse </vt:lpstr>
      <vt:lpstr>Contents</vt:lpstr>
      <vt:lpstr>New Features: </vt:lpstr>
      <vt:lpstr>Time span in KQL </vt:lpstr>
      <vt:lpstr>Ignore skippings indexes for a query  </vt:lpstr>
      <vt:lpstr>Example</vt:lpstr>
      <vt:lpstr>EXPLAIN indexes = 1 SELECT * FROM data WHERE x = 1 AND y = 2;</vt:lpstr>
      <vt:lpstr>EXPLAIN indexes = 1 SELECT * FROM data WHERE x = 1 AND y = 2 SETTINGS ignore_data_skipping_indices='xy_idx';</vt:lpstr>
      <vt:lpstr>Bug Fixed:</vt:lpstr>
      <vt:lpstr>Phase2 OSS PR</vt:lpstr>
      <vt:lpstr>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Kusto Query Language natively in ClickHouse </dc:title>
  <dc:creator>Yong Wang</dc:creator>
  <cp:lastModifiedBy>Yong Wang</cp:lastModifiedBy>
  <cp:revision>97</cp:revision>
  <dcterms:created xsi:type="dcterms:W3CDTF">2022-07-20T20:04:35Z</dcterms:created>
  <dcterms:modified xsi:type="dcterms:W3CDTF">2023-06-08T05:30:18Z</dcterms:modified>
</cp:coreProperties>
</file>