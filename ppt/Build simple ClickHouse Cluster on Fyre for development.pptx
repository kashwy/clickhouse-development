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93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02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EC9E8-BC4B-4D7E-9949-34935D72C5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407C6-BFBA-4452-B3CF-FFA9374760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0E6D8-373D-49A3-AECD-7D2B6271A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F4C9B-8512-448E-A3DF-452CB39A2458}" type="datetimeFigureOut">
              <a:rPr lang="en-CA" smtClean="0"/>
              <a:t>2022-03-25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BBE70-8940-4C61-8BA6-D8E6DEFC9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67271-71E0-45F8-A72D-CA20BA5E8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86B12-5828-400F-8DA7-EC808820177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647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9D91F-31A7-4F3E-9923-C69ADAB71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20724-879D-4AE0-837D-A597560EF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A07E1-3DB7-4683-BF99-70E8369E0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F4C9B-8512-448E-A3DF-452CB39A2458}" type="datetimeFigureOut">
              <a:rPr lang="en-CA" smtClean="0"/>
              <a:t>2022-03-25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E06F6-1061-422C-8A8F-333AFFEF1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534F8D-A719-47A2-B709-8660A4F96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86B12-5828-400F-8DA7-EC808820177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85121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B8C9C-39D7-43FC-9D19-F041235B1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54FE9-A327-407F-81DB-B194A955DC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B742CD-C84C-43FE-837A-E2A6EF023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F4C9B-8512-448E-A3DF-452CB39A2458}" type="datetimeFigureOut">
              <a:rPr lang="en-CA" smtClean="0"/>
              <a:t>2022-03-25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30EBB-7160-4A01-829D-5CD39ED88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EAED6-B3F2-41E8-9094-B87E7A205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86B12-5828-400F-8DA7-EC808820177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1085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FDF6F-6B85-42A0-BA89-39AAFA182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A2C6D-1F76-4F04-A9A8-B50A4A4034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9CD09F-246F-46D6-BAB4-AD8C874B75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22A89-7462-4D35-83CE-037EDB906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F4C9B-8512-448E-A3DF-452CB39A2458}" type="datetimeFigureOut">
              <a:rPr lang="en-CA" smtClean="0"/>
              <a:t>2022-03-25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BD8510-8A36-4600-97BD-42E3D0657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ABE6F5-B10E-4338-8FE4-2307AFD36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86B12-5828-400F-8DA7-EC808820177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8631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88D15-7AFC-44C2-A7FD-CF0245E7B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20EF9D-6BA3-424C-8055-1A2349057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84865A-A6A4-44DA-8669-040304C1C6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C752D5-A317-465A-9301-A3745BEAF0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4CE63D-E7C2-4DE6-A2FA-8C8DBE866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B1282B-F4EE-4ECF-9606-1AA4019B0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F4C9B-8512-448E-A3DF-452CB39A2458}" type="datetimeFigureOut">
              <a:rPr lang="en-CA" smtClean="0"/>
              <a:t>2022-03-25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A2B379-AD02-4C35-9851-58B35985F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CFBDEC-8D3B-4CA0-B90F-47DD94F92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86B12-5828-400F-8DA7-EC808820177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7653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890E4-5773-4B24-A1B7-1F69406E7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563EE6-78A5-4D99-BFE1-DE8BBEFF8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F4C9B-8512-448E-A3DF-452CB39A2458}" type="datetimeFigureOut">
              <a:rPr lang="en-CA" smtClean="0"/>
              <a:t>2022-03-25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54536A-F9A5-4EFB-B2B7-9E4063C1C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E23F5F-EFE7-4B48-9062-9C41B58A8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86B12-5828-400F-8DA7-EC808820177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94943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462A73-3067-4EA2-AE18-03EAB5CE2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F4C9B-8512-448E-A3DF-452CB39A2458}" type="datetimeFigureOut">
              <a:rPr lang="en-CA" smtClean="0"/>
              <a:t>2022-03-25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DA03BA-E164-4DED-963A-DB965E6C7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743ED-7E93-4A44-AE7A-F4BD00C03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86B12-5828-400F-8DA7-EC808820177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12295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4DCBE-D1A0-4952-9BAD-CB924F534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DC457-0AB2-48DD-BA2A-56A7BDAD2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A9C54-FBE6-428B-ACCC-46C4ADB91F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F20DB5-5C3E-4ADD-836A-35D8E312D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F4C9B-8512-448E-A3DF-452CB39A2458}" type="datetimeFigureOut">
              <a:rPr lang="en-CA" smtClean="0"/>
              <a:t>2022-03-25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4520DB-AA94-4BE3-B33F-4B6F407EC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7E13FE-3DC4-4B78-A24D-DEB6A3B5E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86B12-5828-400F-8DA7-EC808820177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12467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AAD3A-0795-4D62-977B-67F7AB33C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7124F6-8963-4773-B5C2-37C56C6571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6375F8-DD73-4B7E-AB85-178BA3128B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0B148-5550-4AC9-8A64-E3BE9BE0E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F4C9B-8512-448E-A3DF-452CB39A2458}" type="datetimeFigureOut">
              <a:rPr lang="en-CA" smtClean="0"/>
              <a:t>2022-03-25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BF187E-6BFD-416E-8548-FAFF19C5B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53869B-3872-4537-8722-6BED2E3F4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86B12-5828-400F-8DA7-EC808820177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4769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A7226-7A62-4AFA-9DA2-116B10759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17A3C7-53A0-46C3-911F-75B2C2C476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C6097-4793-4F05-8890-57B0ECD95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F4C9B-8512-448E-A3DF-452CB39A2458}" type="datetimeFigureOut">
              <a:rPr lang="en-CA" smtClean="0"/>
              <a:t>2022-03-25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D3EE0-DB35-45BB-973F-EE707465C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1AAEA-8CE9-4CEA-8DA0-94038D639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86B12-5828-400F-8DA7-EC808820177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89177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225493-C968-4DDD-BDF7-7AEEA478BE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87C26B-27BC-4F9E-99C4-C4C91D703C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829F7-DF0B-4169-BC3D-AC9F444FB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F4C9B-8512-448E-A3DF-452CB39A2458}" type="datetimeFigureOut">
              <a:rPr lang="en-CA" smtClean="0"/>
              <a:t>2022-03-25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A3EC8-ADAF-4377-9905-3DB205359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A9A87-261A-4909-BDAD-17667D472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86B12-5828-400F-8DA7-EC808820177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4829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A5E9BC-951E-4D89-A39B-981E0F5EE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A52E44-6F29-4886-9D0F-8F2CA8E461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9B6A0-DDCA-4753-BE1B-665106864A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F4C9B-8512-448E-A3DF-452CB39A2458}" type="datetimeFigureOut">
              <a:rPr lang="en-CA" smtClean="0"/>
              <a:t>2022-03-25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20AA37-5C0B-4F8B-9FF7-D71E31F1F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6F688-DDA1-466B-A4CB-188E63E8E3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86B12-5828-400F-8DA7-EC808820177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9997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ibm.com/ClickHouse/ClickHouse/wiki/Build-Simple-ClickHouse-Cluster-on-Fyre-for-developmen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9CBC5-23EB-406C-9039-AD02B2B1BC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Build Simple </a:t>
            </a:r>
            <a:r>
              <a:rPr lang="en-US" b="1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ClickHouse</a:t>
            </a:r>
            <a:r>
              <a:rPr lang="en-US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Cluster on </a:t>
            </a:r>
            <a:r>
              <a:rPr lang="en-US" b="1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Fyre</a:t>
            </a:r>
            <a:r>
              <a:rPr lang="en-US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for Development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E5C3BF-60A1-4D6D-BA33-783C2C76DE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Wiki page:</a:t>
            </a:r>
          </a:p>
          <a:p>
            <a:r>
              <a:rPr lang="en-CA" dirty="0">
                <a:hlinkClick r:id="rId2"/>
              </a:rPr>
              <a:t>https://github.ibm.com/ClickHouse/ClickHouse/wiki/Build-Simple-ClickHouse-Cluster-on-Fyre-for-development</a:t>
            </a: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47675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19FFA-9C16-49F7-A208-180180A3A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Cluster for </a:t>
            </a:r>
            <a:r>
              <a:rPr lang="en-US"/>
              <a:t>Develop Purpose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0521E-5D36-4B96-AE94-CDC70DB01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Used for trouble shooting and debugging</a:t>
            </a:r>
          </a:p>
          <a:p>
            <a:endParaRPr lang="en-US" dirty="0"/>
          </a:p>
          <a:p>
            <a:r>
              <a:rPr lang="en-US" dirty="0"/>
              <a:t>No complicated setup ( user, </a:t>
            </a:r>
            <a:r>
              <a:rPr lang="en-US" dirty="0" err="1"/>
              <a:t>pwd</a:t>
            </a:r>
            <a:r>
              <a:rPr lang="en-US" dirty="0"/>
              <a:t> etc.)</a:t>
            </a:r>
          </a:p>
          <a:p>
            <a:endParaRPr lang="en-US" dirty="0"/>
          </a:p>
          <a:p>
            <a:r>
              <a:rPr lang="en-US" dirty="0"/>
              <a:t>Simple configuration</a:t>
            </a:r>
          </a:p>
          <a:p>
            <a:endParaRPr lang="en-US" dirty="0"/>
          </a:p>
          <a:p>
            <a:r>
              <a:rPr lang="en-US" dirty="0"/>
              <a:t>Only 3 Nodes zookeeper , 2 Nodes </a:t>
            </a:r>
            <a:r>
              <a:rPr lang="en-US" dirty="0" err="1"/>
              <a:t>ClickHouse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26379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AB95D-7DDC-4EED-9B9B-56535CB49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Machines on </a:t>
            </a:r>
            <a:r>
              <a:rPr lang="en-US" dirty="0" err="1"/>
              <a:t>Fyre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7EBD4-5BD0-45CE-AE0B-901A7E3F8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Machines and software to be installed:</a:t>
            </a:r>
          </a:p>
          <a:p>
            <a:endParaRPr lang="en-US" dirty="0"/>
          </a:p>
          <a:p>
            <a:endParaRPr lang="en-US" dirty="0"/>
          </a:p>
          <a:p>
            <a:endParaRPr lang="en-CA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E5076B2-D2CF-4634-97BC-AB47755C9E3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269774"/>
          <a:ext cx="10515600" cy="14630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13077096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2082644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149626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CA" b="1">
                          <a:effectLst/>
                        </a:rPr>
                        <a:t>machine</a:t>
                      </a:r>
                    </a:p>
                  </a:txBody>
                  <a:tcPr marL="99060" marR="99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b="1">
                          <a:effectLst/>
                        </a:rPr>
                        <a:t>ip</a:t>
                      </a:r>
                    </a:p>
                  </a:txBody>
                  <a:tcPr marL="99060" marR="99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b="1">
                          <a:effectLst/>
                        </a:rPr>
                        <a:t>software installed</a:t>
                      </a:r>
                    </a:p>
                  </a:txBody>
                  <a:tcPr marL="99060" marR="99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1095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A">
                          <a:effectLst/>
                        </a:rPr>
                        <a:t>ch-001</a:t>
                      </a:r>
                    </a:p>
                  </a:txBody>
                  <a:tcPr marL="99060" marR="99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>
                          <a:effectLst/>
                        </a:rPr>
                        <a:t>9.30.188.170</a:t>
                      </a:r>
                    </a:p>
                  </a:txBody>
                  <a:tcPr marL="99060" marR="99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>
                          <a:effectLst/>
                        </a:rPr>
                        <a:t>jdk, zookeeper, clickhouse</a:t>
                      </a:r>
                    </a:p>
                  </a:txBody>
                  <a:tcPr marL="99060" marR="99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A">
                          <a:effectLst/>
                        </a:rPr>
                        <a:t>ch-002</a:t>
                      </a:r>
                    </a:p>
                  </a:txBody>
                  <a:tcPr marL="99060" marR="99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>
                          <a:effectLst/>
                        </a:rPr>
                        <a:t>9.30.230.135</a:t>
                      </a:r>
                    </a:p>
                  </a:txBody>
                  <a:tcPr marL="99060" marR="99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>
                          <a:effectLst/>
                        </a:rPr>
                        <a:t>jdk, zookeeper</a:t>
                      </a:r>
                    </a:p>
                  </a:txBody>
                  <a:tcPr marL="99060" marR="99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676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A">
                          <a:effectLst/>
                        </a:rPr>
                        <a:t>ch-003</a:t>
                      </a:r>
                    </a:p>
                  </a:txBody>
                  <a:tcPr marL="99060" marR="99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>
                          <a:effectLst/>
                        </a:rPr>
                        <a:t>9.30.199.125</a:t>
                      </a:r>
                    </a:p>
                  </a:txBody>
                  <a:tcPr marL="99060" marR="99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dirty="0" err="1">
                          <a:effectLst/>
                        </a:rPr>
                        <a:t>jdk</a:t>
                      </a:r>
                      <a:r>
                        <a:rPr lang="en-CA" dirty="0">
                          <a:effectLst/>
                        </a:rPr>
                        <a:t>, zookeeper, </a:t>
                      </a:r>
                      <a:r>
                        <a:rPr lang="en-CA" dirty="0" err="1">
                          <a:effectLst/>
                        </a:rPr>
                        <a:t>clickhouse</a:t>
                      </a:r>
                      <a:endParaRPr lang="en-CA" dirty="0">
                        <a:effectLst/>
                      </a:endParaRPr>
                    </a:p>
                  </a:txBody>
                  <a:tcPr marL="99060" marR="99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605329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8694E431-4C80-4FD6-8093-410012813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2702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1945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A1DE2-4EAA-4672-B7D6-49AEC6BC8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JDK and zookeeper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80DBB-11E5-4C3C-82D3-B15C1F420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Install on all 3 Nodes:</a:t>
            </a:r>
          </a:p>
          <a:p>
            <a:r>
              <a:rPr lang="en-US" dirty="0"/>
              <a:t>Install JDK</a:t>
            </a:r>
          </a:p>
          <a:p>
            <a:pPr marL="457200" lvl="1" indent="0">
              <a:buNone/>
            </a:pPr>
            <a:r>
              <a:rPr lang="en-CA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sudo</a:t>
            </a:r>
            <a:r>
              <a:rPr lang="en-CA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apt install openjdk-8-jdk</a:t>
            </a:r>
          </a:p>
          <a:p>
            <a:pPr marL="457200" lvl="1" indent="0">
              <a:buNone/>
            </a:pPr>
            <a:endParaRPr lang="en-US" sz="1400" dirty="0"/>
          </a:p>
          <a:p>
            <a:r>
              <a:rPr lang="en-US" dirty="0"/>
              <a:t>Install zookeeper</a:t>
            </a:r>
          </a:p>
          <a:p>
            <a:pPr marL="457200" lvl="1" indent="0">
              <a:buNone/>
            </a:pPr>
            <a:r>
              <a:rPr lang="en-CA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sudo</a:t>
            </a:r>
            <a:r>
              <a:rPr lang="en-CA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wget</a:t>
            </a:r>
            <a:r>
              <a:rPr lang="en-CA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https://dlcdn.apache.org/zookeeper/zookeeper-3.7.0/apache-zookeeper-3.7.0-bin.tar.gz </a:t>
            </a:r>
          </a:p>
          <a:p>
            <a:pPr marL="457200" lvl="1" indent="0">
              <a:buNone/>
            </a:pPr>
            <a:endParaRPr lang="en-CA" sz="14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CA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mkdir</a:t>
            </a:r>
            <a:r>
              <a:rPr lang="en-CA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/data </a:t>
            </a:r>
          </a:p>
          <a:p>
            <a:pPr marL="457200" lvl="1" indent="0">
              <a:buNone/>
            </a:pPr>
            <a:endParaRPr lang="en-CA" sz="14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CA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sudo</a:t>
            </a:r>
            <a:r>
              <a:rPr lang="en-CA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tar -</a:t>
            </a:r>
            <a:r>
              <a:rPr lang="en-CA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zxvf</a:t>
            </a:r>
            <a:r>
              <a:rPr lang="en-CA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./apache-zookeeper-3.7.0-bin.tar.gz -C /data</a:t>
            </a:r>
            <a:endParaRPr lang="en-CA" sz="1400" dirty="0"/>
          </a:p>
        </p:txBody>
      </p:sp>
    </p:spTree>
    <p:extLst>
      <p:ext uri="{BB962C8B-B14F-4D97-AF65-F5344CB8AC3E}">
        <p14:creationId xmlns:p14="http://schemas.microsoft.com/office/powerpoint/2010/main" val="2287351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D4C87-D9E1-427B-B7B3-0299C9678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 Zookeeper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243C1-643C-4DE1-B183-A471418D8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On all nodes:</a:t>
            </a:r>
          </a:p>
          <a:p>
            <a:r>
              <a:rPr lang="en-CA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Make a copy of </a:t>
            </a:r>
            <a:r>
              <a:rPr lang="en-CA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zoo.cfg</a:t>
            </a:r>
            <a:endParaRPr lang="en-CA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CA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CA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cp conf/</a:t>
            </a:r>
            <a:r>
              <a:rPr lang="en-CA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zoo_sample.cfg</a:t>
            </a:r>
            <a:r>
              <a:rPr lang="en-CA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conf/</a:t>
            </a:r>
            <a:r>
              <a:rPr lang="en-CA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zoo.cfg</a:t>
            </a:r>
            <a:endParaRPr lang="en-CA" dirty="0"/>
          </a:p>
          <a:p>
            <a:endParaRPr lang="en-US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Edit </a:t>
            </a:r>
            <a:r>
              <a:rPr lang="en-CA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conf/</a:t>
            </a:r>
            <a:r>
              <a:rPr lang="en-CA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zoo.cfg</a:t>
            </a:r>
            <a:r>
              <a:rPr lang="en-CA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457200" lvl="1" indent="0">
              <a:buNone/>
            </a:pP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tickTime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=2000 </a:t>
            </a:r>
          </a:p>
          <a:p>
            <a:pPr marL="457200" lvl="1" indent="0">
              <a:buNone/>
            </a:pP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initLimit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=10 </a:t>
            </a:r>
          </a:p>
          <a:p>
            <a:pPr marL="457200" lvl="1" indent="0">
              <a:buNone/>
            </a:pP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syncLimit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=5 </a:t>
            </a:r>
          </a:p>
          <a:p>
            <a:pPr marL="457200" lvl="1" indent="0">
              <a:buNone/>
            </a:pP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dataDir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=/data/zookeeper/data </a:t>
            </a:r>
          </a:p>
          <a:p>
            <a:pPr marL="457200" lvl="1" indent="0">
              <a:buNone/>
            </a:pP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clientPort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=2181 </a:t>
            </a:r>
          </a:p>
          <a:p>
            <a:pPr marL="457200" lvl="1" indent="0">
              <a:buNone/>
            </a:pP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server.1=9.30.188.170:2888:3888 </a:t>
            </a:r>
          </a:p>
          <a:p>
            <a:pPr marL="457200" lvl="1" indent="0">
              <a:buNone/>
            </a:pP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server.2=9.30.230.135:2888:3888 </a:t>
            </a:r>
          </a:p>
          <a:p>
            <a:pPr marL="457200" lvl="1" indent="0">
              <a:buNone/>
            </a:pP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server.3=9.30.199.125:2888:3888</a:t>
            </a:r>
            <a:endParaRPr lang="en-C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259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544A9-2873-4530-A0E1-9DDC7AA1C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Set the id for each machine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1816A-3E31-41F4-9A5F-060EE057F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CA" dirty="0"/>
          </a:p>
          <a:p>
            <a:r>
              <a:rPr lang="en-CA" dirty="0"/>
              <a:t>on the machine 1 , ch-001 (9.30.188.170), run:</a:t>
            </a:r>
          </a:p>
          <a:p>
            <a:pPr marL="457200" lvl="1" indent="0">
              <a:buNone/>
            </a:pPr>
            <a:r>
              <a:rPr lang="en-CA" dirty="0"/>
              <a:t>/data/zookeeper # </a:t>
            </a:r>
            <a:r>
              <a:rPr lang="en-CA" dirty="0">
                <a:solidFill>
                  <a:srgbClr val="FF0000"/>
                </a:solidFill>
              </a:rPr>
              <a:t>echo 1 &gt; /data/zookeeper/data/</a:t>
            </a:r>
            <a:r>
              <a:rPr lang="en-CA" dirty="0" err="1">
                <a:solidFill>
                  <a:srgbClr val="FF0000"/>
                </a:solidFill>
              </a:rPr>
              <a:t>myid</a:t>
            </a:r>
            <a:r>
              <a:rPr lang="en-CA" dirty="0">
                <a:solidFill>
                  <a:srgbClr val="FF0000"/>
                </a:solidFill>
              </a:rPr>
              <a:t>   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on the machine 2, ch-002 ( 9.30.230.135) ,run:</a:t>
            </a:r>
          </a:p>
          <a:p>
            <a:pPr marL="457200" lvl="1" indent="0">
              <a:buNone/>
            </a:pPr>
            <a:r>
              <a:rPr lang="en-CA" dirty="0"/>
              <a:t>/data/zookeeper # </a:t>
            </a:r>
            <a:r>
              <a:rPr lang="en-CA" dirty="0">
                <a:solidFill>
                  <a:srgbClr val="FF0000"/>
                </a:solidFill>
              </a:rPr>
              <a:t>echo 2 &gt; /data/zookeeper/data/</a:t>
            </a:r>
            <a:r>
              <a:rPr lang="en-CA" dirty="0" err="1">
                <a:solidFill>
                  <a:srgbClr val="FF0000"/>
                </a:solidFill>
              </a:rPr>
              <a:t>myid</a:t>
            </a:r>
            <a:r>
              <a:rPr lang="en-CA" dirty="0">
                <a:solidFill>
                  <a:srgbClr val="FF0000"/>
                </a:solidFill>
              </a:rPr>
              <a:t>  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on the machine 3, ch-003 ( 9.30.199.125), run:</a:t>
            </a:r>
          </a:p>
          <a:p>
            <a:pPr marL="457200" lvl="1" indent="0">
              <a:buNone/>
            </a:pPr>
            <a:r>
              <a:rPr lang="en-CA" dirty="0"/>
              <a:t>/data/zookeeper # </a:t>
            </a:r>
            <a:r>
              <a:rPr lang="en-CA" dirty="0">
                <a:solidFill>
                  <a:srgbClr val="FF0000"/>
                </a:solidFill>
              </a:rPr>
              <a:t>echo 3 &gt; /data/zookeeper/data/</a:t>
            </a:r>
            <a:r>
              <a:rPr lang="en-CA" dirty="0" err="1">
                <a:solidFill>
                  <a:srgbClr val="FF0000"/>
                </a:solidFill>
              </a:rPr>
              <a:t>myid</a:t>
            </a:r>
            <a:r>
              <a:rPr lang="en-CA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01459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07719-72E4-4E1E-9124-6024C8E50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Start zookeeper (on all 3 machines):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5F7C4-C023-41C4-A91F-810605FEF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b="0" i="0" dirty="0">
                <a:solidFill>
                  <a:srgbClr val="000000"/>
                </a:solidFill>
                <a:effectLst/>
                <a:latin typeface="-apple-system"/>
              </a:rPr>
              <a:t>Start zookeeper</a:t>
            </a:r>
          </a:p>
          <a:p>
            <a:pPr marL="457200" lvl="1" indent="0">
              <a:buNone/>
            </a:pPr>
            <a:r>
              <a:rPr lang="en-CA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./bin/zkServer.sh start</a:t>
            </a:r>
          </a:p>
          <a:p>
            <a:pPr marL="457200" lvl="1" indent="0">
              <a:buNone/>
            </a:pPr>
            <a:endParaRPr lang="en-CA" dirty="0">
              <a:solidFill>
                <a:srgbClr val="FF0000"/>
              </a:solidFill>
              <a:latin typeface="-apple-system"/>
            </a:endParaRPr>
          </a:p>
          <a:p>
            <a:r>
              <a:rPr lang="en-CA" b="0" i="0" dirty="0">
                <a:solidFill>
                  <a:srgbClr val="000000"/>
                </a:solidFill>
                <a:effectLst/>
                <a:latin typeface="-apple-system"/>
              </a:rPr>
              <a:t>Check zookeeper status:</a:t>
            </a:r>
          </a:p>
          <a:p>
            <a:pPr marL="457200" lvl="1" indent="0">
              <a:buNone/>
            </a:pPr>
            <a:r>
              <a:rPr lang="en-CA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/data/zookeeper/bin/zkServer.sh status  </a:t>
            </a:r>
          </a:p>
          <a:p>
            <a:pPr marL="457200" lvl="1" indent="0">
              <a:buNone/>
            </a:pPr>
            <a:endParaRPr lang="en-CA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CA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CA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usr</a:t>
            </a:r>
            <a:r>
              <a:rPr lang="en-CA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/bin/java</a:t>
            </a:r>
          </a:p>
          <a:p>
            <a:pPr marL="457200" lvl="1" indent="0">
              <a:buNone/>
            </a:pPr>
            <a:r>
              <a:rPr lang="en-CA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ZooKeeper</a:t>
            </a:r>
            <a:r>
              <a:rPr lang="en-CA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JMX enabled by default</a:t>
            </a:r>
          </a:p>
          <a:p>
            <a:pPr marL="457200" lvl="1" indent="0">
              <a:buNone/>
            </a:pPr>
            <a:r>
              <a:rPr lang="en-CA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Using config: /data/zookeeper/bin/../conf/</a:t>
            </a:r>
            <a:r>
              <a:rPr lang="en-CA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zoo.cfg</a:t>
            </a:r>
            <a:endParaRPr lang="en-CA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CA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Client port found: 2181. Client address: localhost. Client SSL: false.</a:t>
            </a:r>
          </a:p>
          <a:p>
            <a:pPr marL="457200" lvl="1" indent="0">
              <a:buNone/>
            </a:pPr>
            <a:r>
              <a:rPr lang="en-CA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Mode: follower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29360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5CF72-60D4-4BDE-80FD-53E93DAAC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0" i="0" dirty="0">
                <a:solidFill>
                  <a:srgbClr val="000000"/>
                </a:solidFill>
                <a:effectLst/>
                <a:latin typeface="-apple-system"/>
              </a:rPr>
              <a:t>Setup </a:t>
            </a:r>
            <a:r>
              <a:rPr lang="en-CA" b="0" i="0" dirty="0" err="1">
                <a:solidFill>
                  <a:srgbClr val="000000"/>
                </a:solidFill>
                <a:effectLst/>
                <a:latin typeface="-apple-system"/>
              </a:rPr>
              <a:t>ClickHouse</a:t>
            </a:r>
            <a:r>
              <a:rPr lang="en-CA" b="0" i="0" dirty="0">
                <a:solidFill>
                  <a:srgbClr val="000000"/>
                </a:solidFill>
                <a:effectLst/>
                <a:latin typeface="-apple-system"/>
              </a:rPr>
              <a:t> cluster</a:t>
            </a:r>
            <a:br>
              <a:rPr lang="en-CA" b="0" i="0" dirty="0">
                <a:solidFill>
                  <a:srgbClr val="000000"/>
                </a:solidFill>
                <a:effectLst/>
                <a:latin typeface="-apple-system"/>
              </a:rPr>
            </a:b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FA5D6-7337-4182-82A2-F0CE397B3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Install </a:t>
            </a: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ClickHouse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on ch-001, ch-003</a:t>
            </a:r>
          </a:p>
          <a:p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dirty="0"/>
              <a:t>Config </a:t>
            </a:r>
            <a:r>
              <a:rPr lang="en-CA" dirty="0" err="1"/>
              <a:t>ClickHouse</a:t>
            </a:r>
            <a:r>
              <a:rPr lang="en-CA" dirty="0"/>
              <a:t>: ( </a:t>
            </a:r>
            <a:r>
              <a:rPr lang="en-CA" dirty="0">
                <a:solidFill>
                  <a:srgbClr val="FF0000"/>
                </a:solidFill>
              </a:rPr>
              <a:t>/</a:t>
            </a:r>
            <a:r>
              <a:rPr lang="en-CA" dirty="0" err="1">
                <a:solidFill>
                  <a:srgbClr val="FF0000"/>
                </a:solidFill>
              </a:rPr>
              <a:t>etc</a:t>
            </a:r>
            <a:r>
              <a:rPr lang="en-CA" dirty="0">
                <a:solidFill>
                  <a:srgbClr val="FF0000"/>
                </a:solidFill>
              </a:rPr>
              <a:t>/</a:t>
            </a:r>
            <a:r>
              <a:rPr lang="en-CA" dirty="0" err="1">
                <a:solidFill>
                  <a:srgbClr val="FF0000"/>
                </a:solidFill>
              </a:rPr>
              <a:t>clickhouse</a:t>
            </a:r>
            <a:r>
              <a:rPr lang="en-CA" dirty="0">
                <a:solidFill>
                  <a:srgbClr val="FF0000"/>
                </a:solidFill>
              </a:rPr>
              <a:t>-server/config.xml </a:t>
            </a:r>
            <a:r>
              <a:rPr lang="en-CA" dirty="0"/>
              <a:t>)</a:t>
            </a:r>
          </a:p>
          <a:p>
            <a:endParaRPr lang="en-CA" dirty="0"/>
          </a:p>
          <a:p>
            <a:pPr lvl="1"/>
            <a:r>
              <a:rPr lang="en-CA" b="0" i="0" dirty="0">
                <a:solidFill>
                  <a:srgbClr val="000000"/>
                </a:solidFill>
                <a:effectLst/>
                <a:latin typeface="-apple-system"/>
              </a:rPr>
              <a:t>Add listen host</a:t>
            </a:r>
          </a:p>
          <a:p>
            <a:pPr lvl="1"/>
            <a:r>
              <a:rPr lang="en-CA" b="0" i="0" dirty="0">
                <a:solidFill>
                  <a:srgbClr val="000000"/>
                </a:solidFill>
                <a:effectLst/>
                <a:latin typeface="-apple-system"/>
              </a:rPr>
              <a:t>Setup data path </a:t>
            </a:r>
          </a:p>
          <a:p>
            <a:pPr lvl="1"/>
            <a:r>
              <a:rPr lang="en-CA" dirty="0">
                <a:solidFill>
                  <a:srgbClr val="000000"/>
                </a:solidFill>
                <a:latin typeface="-apple-system"/>
              </a:rPr>
              <a:t>Add cluster</a:t>
            </a:r>
            <a:endParaRPr lang="en-CA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lvl="1"/>
            <a:r>
              <a:rPr lang="en-CA" b="0" i="0" dirty="0">
                <a:solidFill>
                  <a:srgbClr val="000000"/>
                </a:solidFill>
                <a:effectLst/>
                <a:latin typeface="-apple-system"/>
              </a:rPr>
              <a:t>Add zookeeper config</a:t>
            </a:r>
            <a:endParaRPr lang="en-CA" dirty="0">
              <a:solidFill>
                <a:srgbClr val="000000"/>
              </a:solidFill>
              <a:latin typeface="-apple-system"/>
            </a:endParaRPr>
          </a:p>
          <a:p>
            <a:pPr lvl="1"/>
            <a:r>
              <a:rPr lang="en-CA" b="0" i="0" dirty="0">
                <a:solidFill>
                  <a:srgbClr val="000000"/>
                </a:solidFill>
                <a:effectLst/>
                <a:latin typeface="-apple-system"/>
              </a:rPr>
              <a:t>Change macros</a:t>
            </a:r>
            <a:endParaRPr lang="en-CA" dirty="0"/>
          </a:p>
          <a:p>
            <a:endParaRPr lang="en-CA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E14F8D7-A75F-4C8B-AEB7-B0C924ED1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use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ar(--vscode-editor-font-family, &quot;SF Mono&quot;, Monaco, Menlo, Consolas, &quot;Ubuntu Mono&quot;, &quot;Liberation Mono&quot;, &quot;DejaVu Sans Mono&quot;, &quot;Courier New&quot;, monospace)"/>
              </a:rPr>
              <a:t>/etc/clickhouse-server/config.xml</a:t>
            </a:r>
            <a:r>
              <a:rPr kumimoji="0" lang="en-US" altLang="en-US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572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1B5CF-43A7-450D-87B0-6F07C9962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0" i="0" dirty="0">
                <a:solidFill>
                  <a:srgbClr val="000000"/>
                </a:solidFill>
                <a:effectLst/>
                <a:latin typeface="-apple-system"/>
              </a:rPr>
              <a:t>Add config for cluster: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14599-904B-4DC6-AD75-DC6E61A53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 a cluster </a:t>
            </a:r>
            <a:r>
              <a:rPr lang="en-U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groupby_test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with 1 shard 2 replica</a:t>
            </a:r>
          </a:p>
          <a:p>
            <a:endParaRPr lang="en-CA" dirty="0"/>
          </a:p>
          <a:p>
            <a:pPr marL="457200" lvl="1" indent="0">
              <a:buNone/>
            </a:pPr>
            <a:r>
              <a:rPr lang="en-US" dirty="0"/>
              <a:t>&lt;</a:t>
            </a:r>
            <a:r>
              <a:rPr lang="en-US" dirty="0" err="1"/>
              <a:t>remote_servers</a:t>
            </a:r>
            <a:r>
              <a:rPr lang="en-US" dirty="0"/>
              <a:t>&gt;</a:t>
            </a:r>
          </a:p>
          <a:p>
            <a:pPr marL="457200" lvl="1" indent="0">
              <a:buNone/>
            </a:pPr>
            <a:r>
              <a:rPr lang="en-US" dirty="0"/>
              <a:t>    &lt;</a:t>
            </a:r>
            <a:r>
              <a:rPr lang="en-US" dirty="0" err="1">
                <a:solidFill>
                  <a:srgbClr val="FF0000"/>
                </a:solidFill>
              </a:rPr>
              <a:t>groupby_test</a:t>
            </a:r>
            <a:r>
              <a:rPr lang="en-US" dirty="0"/>
              <a:t>&gt; &lt;!-- cluster name self defined --&gt;</a:t>
            </a:r>
          </a:p>
          <a:p>
            <a:pPr marL="457200" lvl="1" indent="0">
              <a:buNone/>
            </a:pPr>
            <a:r>
              <a:rPr lang="en-US" dirty="0"/>
              <a:t>        &lt;shard&gt; </a:t>
            </a:r>
          </a:p>
          <a:p>
            <a:pPr marL="457200" lvl="1" indent="0">
              <a:buNone/>
            </a:pPr>
            <a:r>
              <a:rPr lang="en-US" dirty="0"/>
              <a:t>            &lt;!-- Optional. Shard weight when writing data. Default: 1. --&gt;</a:t>
            </a:r>
          </a:p>
          <a:p>
            <a:pPr marL="457200" lvl="1" indent="0">
              <a:buNone/>
            </a:pPr>
            <a:r>
              <a:rPr lang="en-US" dirty="0"/>
              <a:t>            &lt;weight&gt;1&lt;/weight&gt;</a:t>
            </a:r>
          </a:p>
          <a:p>
            <a:pPr marL="457200" lvl="1" indent="0">
              <a:buNone/>
            </a:pPr>
            <a:r>
              <a:rPr lang="en-US" dirty="0"/>
              <a:t>            &lt;!-- Optional. Whether to write data to just one of the replicas. Default: false (write data to all replicas). --&gt;</a:t>
            </a:r>
          </a:p>
          <a:p>
            <a:pPr marL="457200" lvl="1" indent="0">
              <a:buNone/>
            </a:pPr>
            <a:r>
              <a:rPr lang="en-US" dirty="0"/>
              <a:t>            &lt;</a:t>
            </a:r>
            <a:r>
              <a:rPr lang="en-US" dirty="0" err="1"/>
              <a:t>internal_replication</a:t>
            </a:r>
            <a:r>
              <a:rPr lang="en-US" dirty="0"/>
              <a:t>&gt;true&lt;/</a:t>
            </a:r>
            <a:r>
              <a:rPr lang="en-US" dirty="0" err="1"/>
              <a:t>internal_replication</a:t>
            </a:r>
            <a:r>
              <a:rPr lang="en-US" dirty="0"/>
              <a:t>&gt;</a:t>
            </a:r>
          </a:p>
          <a:p>
            <a:pPr marL="457200" lvl="1" indent="0">
              <a:buNone/>
            </a:pPr>
            <a:r>
              <a:rPr lang="en-US" dirty="0"/>
              <a:t>            &lt;replica&gt;  </a:t>
            </a:r>
          </a:p>
          <a:p>
            <a:pPr marL="457200" lvl="1" indent="0">
              <a:buNone/>
            </a:pPr>
            <a:r>
              <a:rPr lang="en-US" dirty="0"/>
              <a:t>                &lt;host&gt;</a:t>
            </a:r>
            <a:r>
              <a:rPr lang="en-US" dirty="0">
                <a:solidFill>
                  <a:srgbClr val="FF0000"/>
                </a:solidFill>
              </a:rPr>
              <a:t>9.30.188.170</a:t>
            </a:r>
            <a:r>
              <a:rPr lang="en-US" dirty="0"/>
              <a:t>&lt;/host&gt;</a:t>
            </a:r>
          </a:p>
          <a:p>
            <a:pPr marL="457200" lvl="1" indent="0">
              <a:buNone/>
            </a:pPr>
            <a:r>
              <a:rPr lang="en-US" dirty="0"/>
              <a:t>                &lt;port&gt;9000&lt;/port&gt;</a:t>
            </a:r>
          </a:p>
          <a:p>
            <a:pPr marL="457200" lvl="1" indent="0">
              <a:buNone/>
            </a:pPr>
            <a:r>
              <a:rPr lang="en-US" dirty="0"/>
              <a:t>            &lt;/replica&gt;</a:t>
            </a:r>
          </a:p>
          <a:p>
            <a:pPr marL="457200" lvl="1" indent="0">
              <a:buNone/>
            </a:pPr>
            <a:r>
              <a:rPr lang="en-US" dirty="0"/>
              <a:t>            &lt;replica&gt;</a:t>
            </a:r>
          </a:p>
          <a:p>
            <a:pPr marL="457200" lvl="1" indent="0">
              <a:buNone/>
            </a:pPr>
            <a:r>
              <a:rPr lang="en-US" dirty="0"/>
              <a:t>                &lt;host&gt;</a:t>
            </a:r>
            <a:r>
              <a:rPr lang="en-US" dirty="0">
                <a:solidFill>
                  <a:srgbClr val="FF0000"/>
                </a:solidFill>
              </a:rPr>
              <a:t>9.30.199.125</a:t>
            </a:r>
            <a:r>
              <a:rPr lang="en-US" dirty="0"/>
              <a:t>&lt;/host&gt;</a:t>
            </a:r>
          </a:p>
          <a:p>
            <a:pPr marL="457200" lvl="1" indent="0">
              <a:buNone/>
            </a:pPr>
            <a:r>
              <a:rPr lang="en-US" dirty="0"/>
              <a:t>                &lt;port&gt;9000&lt;/port&gt;</a:t>
            </a:r>
          </a:p>
          <a:p>
            <a:pPr marL="457200" lvl="1" indent="0">
              <a:buNone/>
            </a:pPr>
            <a:r>
              <a:rPr lang="en-US" dirty="0"/>
              <a:t>            &lt;/replica&gt;</a:t>
            </a:r>
          </a:p>
          <a:p>
            <a:pPr marL="457200" lvl="1" indent="0">
              <a:buNone/>
            </a:pPr>
            <a:r>
              <a:rPr lang="en-US" dirty="0"/>
              <a:t>        &lt;/shard&gt;</a:t>
            </a:r>
          </a:p>
          <a:p>
            <a:pPr marL="457200" lvl="1" indent="0">
              <a:buNone/>
            </a:pPr>
            <a:r>
              <a:rPr lang="en-US" dirty="0"/>
              <a:t>      &lt;!--   &lt;shard&gt;    </a:t>
            </a:r>
          </a:p>
          <a:p>
            <a:pPr marL="457200" lvl="1" indent="0">
              <a:buNone/>
            </a:pPr>
            <a:r>
              <a:rPr lang="en-US" dirty="0"/>
              <a:t>        ...</a:t>
            </a:r>
          </a:p>
          <a:p>
            <a:pPr marL="457200" lvl="1" indent="0">
              <a:buNone/>
            </a:pPr>
            <a:r>
              <a:rPr lang="en-US" dirty="0"/>
              <a:t>        &lt;/shard&gt;  --&gt;</a:t>
            </a:r>
          </a:p>
          <a:p>
            <a:pPr marL="457200" lvl="1" indent="0">
              <a:buNone/>
            </a:pPr>
            <a:r>
              <a:rPr lang="en-US" dirty="0"/>
              <a:t>    &lt;</a:t>
            </a:r>
            <a:r>
              <a:rPr lang="en-US" dirty="0">
                <a:solidFill>
                  <a:srgbClr val="FF0000"/>
                </a:solidFill>
              </a:rPr>
              <a:t>/</a:t>
            </a:r>
            <a:r>
              <a:rPr lang="en-US" dirty="0" err="1">
                <a:solidFill>
                  <a:srgbClr val="FF0000"/>
                </a:solidFill>
              </a:rPr>
              <a:t>groupby_test</a:t>
            </a:r>
            <a:r>
              <a:rPr lang="en-US" dirty="0"/>
              <a:t>&gt;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02513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7D00E-77D6-49B8-BA19-A46806FF6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0" i="0" dirty="0">
                <a:solidFill>
                  <a:srgbClr val="000000"/>
                </a:solidFill>
                <a:effectLst/>
                <a:latin typeface="-apple-system"/>
              </a:rPr>
              <a:t>Add zookeeper config: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DDCB9-84D1-4849-B596-C433F275C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CA" dirty="0"/>
              <a:t>&lt;zookeeper&gt;</a:t>
            </a:r>
          </a:p>
          <a:p>
            <a:r>
              <a:rPr lang="en-CA" dirty="0"/>
              <a:t>        &lt;node index="1"&gt;</a:t>
            </a:r>
          </a:p>
          <a:p>
            <a:r>
              <a:rPr lang="en-CA" dirty="0"/>
              <a:t>            &lt;host&gt;</a:t>
            </a:r>
            <a:r>
              <a:rPr lang="en-CA" dirty="0">
                <a:solidFill>
                  <a:srgbClr val="FF0000"/>
                </a:solidFill>
              </a:rPr>
              <a:t>9.30.188.170</a:t>
            </a:r>
            <a:r>
              <a:rPr lang="en-CA" dirty="0"/>
              <a:t>&lt;/host&gt;</a:t>
            </a:r>
          </a:p>
          <a:p>
            <a:r>
              <a:rPr lang="en-CA" dirty="0"/>
              <a:t>            &lt;port&gt;2181&lt;/port&gt;</a:t>
            </a:r>
          </a:p>
          <a:p>
            <a:r>
              <a:rPr lang="en-CA" dirty="0"/>
              <a:t>        &lt;/node&gt;</a:t>
            </a:r>
          </a:p>
          <a:p>
            <a:r>
              <a:rPr lang="en-CA" dirty="0"/>
              <a:t>        &lt;node index=“2"&gt;</a:t>
            </a:r>
          </a:p>
          <a:p>
            <a:r>
              <a:rPr lang="en-CA" dirty="0"/>
              <a:t>            &lt;host&gt;</a:t>
            </a:r>
            <a:r>
              <a:rPr lang="en-CA" dirty="0">
                <a:solidFill>
                  <a:srgbClr val="FF0000"/>
                </a:solidFill>
              </a:rPr>
              <a:t>9.30.230.135</a:t>
            </a:r>
            <a:r>
              <a:rPr lang="en-CA" dirty="0"/>
              <a:t>&lt;/host&gt;</a:t>
            </a:r>
          </a:p>
          <a:p>
            <a:r>
              <a:rPr lang="en-CA" dirty="0"/>
              <a:t>            &lt;port&gt;2181&lt;/port&gt;</a:t>
            </a:r>
          </a:p>
          <a:p>
            <a:r>
              <a:rPr lang="en-CA" dirty="0"/>
              <a:t>        &lt;/node&gt;</a:t>
            </a:r>
          </a:p>
          <a:p>
            <a:r>
              <a:rPr lang="en-CA" dirty="0"/>
              <a:t>        &lt;node index="3"&gt;</a:t>
            </a:r>
          </a:p>
          <a:p>
            <a:r>
              <a:rPr lang="en-CA" dirty="0"/>
              <a:t>            &lt;host&gt;</a:t>
            </a:r>
            <a:r>
              <a:rPr lang="en-CA" dirty="0">
                <a:solidFill>
                  <a:srgbClr val="FF0000"/>
                </a:solidFill>
              </a:rPr>
              <a:t>9.30.199.125</a:t>
            </a:r>
            <a:r>
              <a:rPr lang="en-CA" dirty="0"/>
              <a:t>&lt;/host&gt;</a:t>
            </a:r>
          </a:p>
          <a:p>
            <a:r>
              <a:rPr lang="en-CA" dirty="0"/>
              <a:t>            &lt;port&gt;2181&lt;/port&gt;</a:t>
            </a:r>
          </a:p>
          <a:p>
            <a:r>
              <a:rPr lang="en-CA" dirty="0"/>
              <a:t>        &lt;/node&gt;</a:t>
            </a:r>
          </a:p>
          <a:p>
            <a:r>
              <a:rPr lang="en-CA" dirty="0"/>
              <a:t>    &lt;/zookeeper&gt;</a:t>
            </a:r>
          </a:p>
        </p:txBody>
      </p:sp>
    </p:spTree>
    <p:extLst>
      <p:ext uri="{BB962C8B-B14F-4D97-AF65-F5344CB8AC3E}">
        <p14:creationId xmlns:p14="http://schemas.microsoft.com/office/powerpoint/2010/main" val="1392527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5676F-0DE5-43F4-9878-8D8028398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0" i="0" dirty="0">
                <a:solidFill>
                  <a:srgbClr val="000000"/>
                </a:solidFill>
                <a:effectLst/>
                <a:latin typeface="-apple-system"/>
              </a:rPr>
              <a:t>Add macros: ( used in </a:t>
            </a:r>
            <a:r>
              <a:rPr lang="en-CA" b="0" i="0" dirty="0" err="1">
                <a:solidFill>
                  <a:srgbClr val="000000"/>
                </a:solidFill>
                <a:effectLst/>
                <a:latin typeface="-apple-system"/>
              </a:rPr>
              <a:t>sql</a:t>
            </a:r>
            <a:r>
              <a:rPr lang="en-CA" b="0" i="0" dirty="0">
                <a:solidFill>
                  <a:srgbClr val="000000"/>
                </a:solidFill>
                <a:effectLst/>
                <a:latin typeface="-apple-system"/>
              </a:rPr>
              <a:t> )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3F607-5CA6-4867-BC71-B541C997B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machine 1: </a:t>
            </a:r>
          </a:p>
          <a:p>
            <a:pPr marL="457200" lvl="1" indent="0">
              <a:buNone/>
            </a:pPr>
            <a:r>
              <a:rPr lang="en-US" dirty="0"/>
              <a:t>  &lt;macros&gt;</a:t>
            </a:r>
          </a:p>
          <a:p>
            <a:pPr marL="457200" lvl="1" indent="0">
              <a:buNone/>
            </a:pPr>
            <a:r>
              <a:rPr lang="en-US" dirty="0"/>
              <a:t>        &lt;shard&gt;1&lt;/shard&gt;</a:t>
            </a:r>
          </a:p>
          <a:p>
            <a:pPr marL="457200" lvl="1" indent="0">
              <a:buNone/>
            </a:pPr>
            <a:r>
              <a:rPr lang="en-US" dirty="0"/>
              <a:t>        &lt;replica&gt;</a:t>
            </a:r>
            <a:r>
              <a:rPr lang="en-US" dirty="0">
                <a:solidFill>
                  <a:srgbClr val="FF0000"/>
                </a:solidFill>
              </a:rPr>
              <a:t>9.30.188.170</a:t>
            </a:r>
            <a:r>
              <a:rPr lang="en-US" dirty="0"/>
              <a:t>&lt;/replica&gt;</a:t>
            </a:r>
          </a:p>
          <a:p>
            <a:pPr marL="457200" lvl="1" indent="0">
              <a:buNone/>
            </a:pPr>
            <a:r>
              <a:rPr lang="en-US" dirty="0"/>
              <a:t>    &lt;/macros&gt;</a:t>
            </a:r>
          </a:p>
          <a:p>
            <a:r>
              <a:rPr lang="en-US" dirty="0"/>
              <a:t>On machine 3 :</a:t>
            </a:r>
          </a:p>
          <a:p>
            <a:pPr marL="457200" lvl="1" indent="0">
              <a:buNone/>
            </a:pPr>
            <a:r>
              <a:rPr lang="en-US" dirty="0"/>
              <a:t> &lt;macros&gt;</a:t>
            </a:r>
          </a:p>
          <a:p>
            <a:pPr marL="457200" lvl="1" indent="0">
              <a:buNone/>
            </a:pPr>
            <a:r>
              <a:rPr lang="en-US" dirty="0"/>
              <a:t>        &lt;shard&gt;1&lt;/shard&gt;</a:t>
            </a:r>
          </a:p>
          <a:p>
            <a:pPr marL="457200" lvl="1" indent="0">
              <a:buNone/>
            </a:pPr>
            <a:r>
              <a:rPr lang="en-US" dirty="0"/>
              <a:t>        &lt;replica&gt;</a:t>
            </a:r>
            <a:r>
              <a:rPr lang="en-CA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9.30.199.125</a:t>
            </a:r>
            <a:r>
              <a:rPr lang="en-US" dirty="0"/>
              <a:t>&lt;/replica&gt;</a:t>
            </a:r>
          </a:p>
          <a:p>
            <a:pPr marL="457200" lvl="1" indent="0">
              <a:buNone/>
            </a:pPr>
            <a:r>
              <a:rPr lang="en-US" dirty="0"/>
              <a:t>    &lt;/macros&gt;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17815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15FFF-886D-497F-9414-C2D23D6AA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 </a:t>
            </a:r>
            <a:r>
              <a:rPr lang="en-US" dirty="0" err="1"/>
              <a:t>ClickHouse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6845A-49B1-432C-AC40-1241FA7C3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Start </a:t>
            </a:r>
            <a:r>
              <a:rPr lang="en-US" dirty="0" err="1"/>
              <a:t>ClickHouse</a:t>
            </a:r>
            <a:r>
              <a:rPr lang="en-US" dirty="0"/>
              <a:t> server on both machines:</a:t>
            </a:r>
          </a:p>
          <a:p>
            <a:pPr marL="457200" lvl="1" indent="0">
              <a:buNone/>
            </a:pPr>
            <a:r>
              <a:rPr lang="en-CA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sudo</a:t>
            </a:r>
            <a:r>
              <a:rPr lang="en-CA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service </a:t>
            </a:r>
            <a:r>
              <a:rPr lang="en-CA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clickhouse</a:t>
            </a:r>
            <a:r>
              <a:rPr lang="en-CA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-server start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Start </a:t>
            </a:r>
            <a:r>
              <a:rPr lang="en-US" dirty="0" err="1"/>
              <a:t>ClickHouse</a:t>
            </a:r>
            <a:r>
              <a:rPr lang="en-US" dirty="0"/>
              <a:t> client on one of the machines </a:t>
            </a:r>
          </a:p>
          <a:p>
            <a:pPr marL="457200" lvl="1" indent="0">
              <a:buNone/>
            </a:pPr>
            <a:r>
              <a:rPr lang="en-CA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clickhouse</a:t>
            </a:r>
            <a:r>
              <a:rPr lang="en-CA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-client</a:t>
            </a:r>
          </a:p>
          <a:p>
            <a:pPr marL="457200" lvl="1" indent="0">
              <a:buNone/>
            </a:pPr>
            <a:r>
              <a:rPr lang="en-CA" dirty="0"/>
              <a:t>Check cluster : </a:t>
            </a:r>
          </a:p>
          <a:p>
            <a:pPr marL="914400" lvl="2" indent="0">
              <a:buNone/>
            </a:pPr>
            <a:r>
              <a:rPr lang="en-CA" dirty="0">
                <a:solidFill>
                  <a:srgbClr val="FF0000"/>
                </a:solidFill>
              </a:rPr>
              <a:t>SELECT * FROM </a:t>
            </a:r>
            <a:r>
              <a:rPr lang="en-CA" dirty="0" err="1">
                <a:solidFill>
                  <a:srgbClr val="FF0000"/>
                </a:solidFill>
              </a:rPr>
              <a:t>system.clusters</a:t>
            </a:r>
            <a:r>
              <a:rPr lang="en-CA" dirty="0">
                <a:solidFill>
                  <a:srgbClr val="FF0000"/>
                </a:solidFill>
              </a:rPr>
              <a:t>;</a:t>
            </a:r>
          </a:p>
          <a:p>
            <a:pPr marL="914400" lvl="2" indent="0">
              <a:buNone/>
            </a:pPr>
            <a:r>
              <a:rPr lang="en-CA" sz="1050" dirty="0">
                <a:solidFill>
                  <a:srgbClr val="FF0000"/>
                </a:solidFill>
                <a:latin typeface="Consolas" panose="020B0609020204030204" pitchFamily="49" charset="0"/>
              </a:rPr>
              <a:t>┌─cluster────────┬─</a:t>
            </a:r>
            <a:r>
              <a:rPr lang="en-CA" sz="1050" dirty="0" err="1">
                <a:solidFill>
                  <a:srgbClr val="FF0000"/>
                </a:solidFill>
                <a:latin typeface="Consolas" panose="020B0609020204030204" pitchFamily="49" charset="0"/>
              </a:rPr>
              <a:t>shard_num</a:t>
            </a:r>
            <a:r>
              <a:rPr lang="en-CA" sz="1050" dirty="0">
                <a:solidFill>
                  <a:srgbClr val="FF0000"/>
                </a:solidFill>
                <a:latin typeface="Consolas" panose="020B0609020204030204" pitchFamily="49" charset="0"/>
              </a:rPr>
              <a:t>─┬─</a:t>
            </a:r>
            <a:r>
              <a:rPr lang="en-CA" sz="1050" dirty="0" err="1">
                <a:solidFill>
                  <a:srgbClr val="FF0000"/>
                </a:solidFill>
                <a:latin typeface="Consolas" panose="020B0609020204030204" pitchFamily="49" charset="0"/>
              </a:rPr>
              <a:t>shard_weight</a:t>
            </a:r>
            <a:r>
              <a:rPr lang="en-CA" sz="1050" dirty="0">
                <a:solidFill>
                  <a:srgbClr val="FF0000"/>
                </a:solidFill>
                <a:latin typeface="Consolas" panose="020B0609020204030204" pitchFamily="49" charset="0"/>
              </a:rPr>
              <a:t>─┬─</a:t>
            </a:r>
            <a:r>
              <a:rPr lang="en-CA" sz="1050" dirty="0" err="1">
                <a:solidFill>
                  <a:srgbClr val="FF0000"/>
                </a:solidFill>
                <a:latin typeface="Consolas" panose="020B0609020204030204" pitchFamily="49" charset="0"/>
              </a:rPr>
              <a:t>replica_num</a:t>
            </a:r>
            <a:r>
              <a:rPr lang="en-CA" sz="1050" dirty="0">
                <a:solidFill>
                  <a:srgbClr val="FF0000"/>
                </a:solidFill>
                <a:latin typeface="Consolas" panose="020B0609020204030204" pitchFamily="49" charset="0"/>
              </a:rPr>
              <a:t>─┬─</a:t>
            </a:r>
            <a:r>
              <a:rPr lang="en-CA" sz="1050" dirty="0" err="1">
                <a:solidFill>
                  <a:srgbClr val="FF0000"/>
                </a:solidFill>
                <a:latin typeface="Consolas" panose="020B0609020204030204" pitchFamily="49" charset="0"/>
              </a:rPr>
              <a:t>host_name</a:t>
            </a:r>
            <a:r>
              <a:rPr lang="en-CA" sz="1050" dirty="0">
                <a:solidFill>
                  <a:srgbClr val="FF0000"/>
                </a:solidFill>
                <a:latin typeface="Consolas" panose="020B0609020204030204" pitchFamily="49" charset="0"/>
              </a:rPr>
              <a:t>────┬─</a:t>
            </a:r>
            <a:r>
              <a:rPr lang="en-CA" sz="1050" dirty="0" err="1">
                <a:solidFill>
                  <a:srgbClr val="FF0000"/>
                </a:solidFill>
                <a:latin typeface="Consolas" panose="020B0609020204030204" pitchFamily="49" charset="0"/>
              </a:rPr>
              <a:t>host_address</a:t>
            </a:r>
            <a:r>
              <a:rPr lang="en-CA" sz="1050" dirty="0">
                <a:solidFill>
                  <a:srgbClr val="FF0000"/>
                </a:solidFill>
                <a:latin typeface="Consolas" panose="020B0609020204030204" pitchFamily="49" charset="0"/>
              </a:rPr>
              <a:t>─┬─port─┬─</a:t>
            </a:r>
            <a:r>
              <a:rPr lang="en-CA" sz="1050" dirty="0" err="1">
                <a:solidFill>
                  <a:srgbClr val="FF0000"/>
                </a:solidFill>
                <a:latin typeface="Consolas" panose="020B0609020204030204" pitchFamily="49" charset="0"/>
              </a:rPr>
              <a:t>is_local</a:t>
            </a:r>
            <a:r>
              <a:rPr lang="en-CA" sz="1050" dirty="0">
                <a:solidFill>
                  <a:srgbClr val="FF0000"/>
                </a:solidFill>
                <a:latin typeface="Consolas" panose="020B0609020204030204" pitchFamily="49" charset="0"/>
              </a:rPr>
              <a:t>─┬─user────┬─ ...─┐</a:t>
            </a:r>
          </a:p>
          <a:p>
            <a:pPr marL="914400" lvl="2" indent="0">
              <a:buNone/>
            </a:pPr>
            <a:r>
              <a:rPr lang="en-CA" sz="1050" dirty="0">
                <a:solidFill>
                  <a:srgbClr val="FF0000"/>
                </a:solidFill>
                <a:latin typeface="Consolas" panose="020B0609020204030204" pitchFamily="49" charset="0"/>
              </a:rPr>
              <a:t>│ </a:t>
            </a:r>
            <a:r>
              <a:rPr lang="en-CA" sz="1050" dirty="0" err="1">
                <a:solidFill>
                  <a:srgbClr val="FF0000"/>
                </a:solidFill>
                <a:latin typeface="Consolas" panose="020B0609020204030204" pitchFamily="49" charset="0"/>
              </a:rPr>
              <a:t>groupby_test</a:t>
            </a:r>
            <a:r>
              <a:rPr lang="en-CA" sz="1050" dirty="0">
                <a:solidFill>
                  <a:srgbClr val="FF0000"/>
                </a:solidFill>
                <a:latin typeface="Consolas" panose="020B0609020204030204" pitchFamily="49" charset="0"/>
              </a:rPr>
              <a:t>   │         1 │            1 │           1 │ 9.30.188.170 │ 9.30.188.170 │ 9000 │        1 │ default │  ... │</a:t>
            </a:r>
          </a:p>
          <a:p>
            <a:pPr marL="914400" lvl="2" indent="0">
              <a:buNone/>
            </a:pPr>
            <a:r>
              <a:rPr lang="en-CA" sz="1050" dirty="0">
                <a:solidFill>
                  <a:srgbClr val="FF0000"/>
                </a:solidFill>
                <a:latin typeface="Consolas" panose="020B0609020204030204" pitchFamily="49" charset="0"/>
              </a:rPr>
              <a:t>│ </a:t>
            </a:r>
            <a:r>
              <a:rPr lang="en-CA" sz="1050" dirty="0" err="1">
                <a:solidFill>
                  <a:srgbClr val="FF0000"/>
                </a:solidFill>
                <a:latin typeface="Consolas" panose="020B0609020204030204" pitchFamily="49" charset="0"/>
              </a:rPr>
              <a:t>groupby_test</a:t>
            </a:r>
            <a:r>
              <a:rPr lang="en-CA" sz="1050" dirty="0">
                <a:solidFill>
                  <a:srgbClr val="FF0000"/>
                </a:solidFill>
                <a:latin typeface="Consolas" panose="020B0609020204030204" pitchFamily="49" charset="0"/>
              </a:rPr>
              <a:t>   │         1 │            1 │           2 │ 9.30.199.125 │ 9.30.199.125 │ 9000 │        0 │ default │  ... │</a:t>
            </a:r>
          </a:p>
          <a:p>
            <a:pPr marL="914400" lvl="2" indent="0">
              <a:buNone/>
            </a:pPr>
            <a:r>
              <a:rPr lang="en-CA" sz="1050" dirty="0">
                <a:solidFill>
                  <a:srgbClr val="FF0000"/>
                </a:solidFill>
                <a:latin typeface="Consolas" panose="020B0609020204030204" pitchFamily="49" charset="0"/>
              </a:rPr>
              <a:t>| ...            |           |              |             |              |              |      |          |         |      |</a:t>
            </a:r>
          </a:p>
          <a:p>
            <a:pPr marL="914400" lvl="2" indent="0">
              <a:buNone/>
            </a:pPr>
            <a:r>
              <a:rPr lang="en-CA" sz="1050" dirty="0">
                <a:solidFill>
                  <a:srgbClr val="FF0000"/>
                </a:solidFill>
                <a:latin typeface="Consolas" panose="020B0609020204030204" pitchFamily="49" charset="0"/>
              </a:rPr>
              <a:t>└────────────────┴───────────┴──────────────┴─────────────┴──────────────┴──────────────┴──────┴──────────┴─────────┴─ ...─┘</a:t>
            </a:r>
          </a:p>
        </p:txBody>
      </p:sp>
    </p:spTree>
    <p:extLst>
      <p:ext uri="{BB962C8B-B14F-4D97-AF65-F5344CB8AC3E}">
        <p14:creationId xmlns:p14="http://schemas.microsoft.com/office/powerpoint/2010/main" val="4140013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11BC3-1650-4E99-BEA6-80794612F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DB on cluster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D1A25-67C8-44F0-8F97-E4AFA3F69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DB on one machine:</a:t>
            </a:r>
          </a:p>
          <a:p>
            <a:pPr marL="457200" lvl="1" indent="0">
              <a:buNone/>
            </a:pPr>
            <a:r>
              <a:rPr lang="en-US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DATABASE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EXISTS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shared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 CLUSTER </a:t>
            </a:r>
            <a:r>
              <a:rPr lang="en-US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i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groupby_test</a:t>
            </a:r>
            <a:r>
              <a:rPr lang="en-US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’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457200" lvl="1" indent="0">
              <a:buNone/>
            </a:pPr>
            <a:endParaRPr lang="en-US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Should be seen on another machine: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SHOW DATABASES;</a:t>
            </a:r>
            <a:endParaRPr lang="en-CA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1765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71833-127C-4BA5-829E-535395710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table on cluster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D176C-5732-41F5-90F0-CEAC5D534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143" y="1825625"/>
            <a:ext cx="1116386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1800" dirty="0"/>
              <a:t>CREATE TABLE IF NOT EXISTS </a:t>
            </a:r>
            <a:r>
              <a:rPr lang="en-CA" sz="1800" dirty="0" err="1"/>
              <a:t>shared.website_monitoring_beacons</a:t>
            </a:r>
            <a:r>
              <a:rPr lang="en-CA" sz="1800" dirty="0"/>
              <a:t> ON CLUSTER </a:t>
            </a:r>
            <a:r>
              <a:rPr lang="en-CA" sz="1800" dirty="0" err="1"/>
              <a:t>groupby_test</a:t>
            </a:r>
            <a:r>
              <a:rPr lang="en-CA" sz="1800" dirty="0"/>
              <a:t> (</a:t>
            </a:r>
          </a:p>
          <a:p>
            <a:pPr marL="0" indent="0">
              <a:buNone/>
            </a:pPr>
            <a:r>
              <a:rPr lang="en-CA" sz="1800" dirty="0"/>
              <a:t>    `</a:t>
            </a:r>
            <a:r>
              <a:rPr lang="en-CA" sz="1800" dirty="0" err="1"/>
              <a:t>client_id</a:t>
            </a:r>
            <a:r>
              <a:rPr lang="en-CA" sz="1800" dirty="0"/>
              <a:t>` String,</a:t>
            </a:r>
          </a:p>
          <a:p>
            <a:pPr marL="0" indent="0">
              <a:buNone/>
            </a:pPr>
            <a:r>
              <a:rPr lang="en-CA" sz="1800" dirty="0"/>
              <a:t>    `</a:t>
            </a:r>
            <a:r>
              <a:rPr lang="en-CA" sz="1800" dirty="0" err="1"/>
              <a:t>sample_multiplicity</a:t>
            </a:r>
            <a:r>
              <a:rPr lang="en-CA" sz="1800" dirty="0"/>
              <a:t>` UInt64 DEFAULT 1,</a:t>
            </a:r>
          </a:p>
          <a:p>
            <a:pPr marL="0" indent="0">
              <a:buNone/>
            </a:pPr>
            <a:r>
              <a:rPr lang="en-CA" sz="1800" dirty="0"/>
              <a:t>    `</a:t>
            </a:r>
            <a:r>
              <a:rPr lang="en-CA" sz="1800" dirty="0" err="1"/>
              <a:t>website_id</a:t>
            </a:r>
            <a:r>
              <a:rPr lang="en-CA" sz="1800" dirty="0"/>
              <a:t>` String,</a:t>
            </a:r>
          </a:p>
          <a:p>
            <a:pPr marL="0" indent="0">
              <a:buNone/>
            </a:pPr>
            <a:r>
              <a:rPr lang="en-CA" sz="1800" dirty="0"/>
              <a:t>     ....</a:t>
            </a:r>
          </a:p>
          <a:p>
            <a:pPr marL="0" indent="0">
              <a:buNone/>
            </a:pPr>
            <a:r>
              <a:rPr lang="en-CA" sz="1800" dirty="0"/>
              <a:t>    `</a:t>
            </a:r>
            <a:r>
              <a:rPr lang="en-CA" sz="1800" dirty="0" err="1"/>
              <a:t>header.value</a:t>
            </a:r>
            <a:r>
              <a:rPr lang="en-CA" sz="1800" dirty="0"/>
              <a:t>` Array(</a:t>
            </a:r>
            <a:r>
              <a:rPr lang="en-CA" sz="1800" dirty="0" err="1"/>
              <a:t>LowCardinality</a:t>
            </a:r>
            <a:r>
              <a:rPr lang="en-CA" sz="1800" dirty="0"/>
              <a:t>(String))</a:t>
            </a:r>
          </a:p>
          <a:p>
            <a:pPr marL="0" indent="0">
              <a:buNone/>
            </a:pPr>
            <a:endParaRPr lang="en-CA" sz="1800" dirty="0"/>
          </a:p>
          <a:p>
            <a:pPr marL="0" indent="0">
              <a:buNone/>
            </a:pPr>
            <a:r>
              <a:rPr lang="en-CA" sz="1800" dirty="0"/>
              <a:t>) ENGINE = </a:t>
            </a:r>
            <a:r>
              <a:rPr lang="en-CA" sz="1800" dirty="0" err="1"/>
              <a:t>ReplicatedMergeTree</a:t>
            </a:r>
            <a:r>
              <a:rPr lang="en-CA" sz="1800" dirty="0"/>
              <a:t>('/</a:t>
            </a:r>
            <a:r>
              <a:rPr lang="en-CA" sz="1800" dirty="0" err="1"/>
              <a:t>clickhouse</a:t>
            </a:r>
            <a:r>
              <a:rPr lang="en-CA" sz="1800" dirty="0"/>
              <a:t>/tables</a:t>
            </a:r>
            <a:r>
              <a:rPr lang="en-CA" sz="1800" dirty="0">
                <a:solidFill>
                  <a:srgbClr val="FF0000"/>
                </a:solidFill>
              </a:rPr>
              <a:t>/{shard}/</a:t>
            </a:r>
            <a:r>
              <a:rPr lang="en-CA" sz="1800" dirty="0"/>
              <a:t>shared/</a:t>
            </a:r>
            <a:r>
              <a:rPr lang="en-CA" sz="1800" dirty="0" err="1"/>
              <a:t>website_monitoring_beacons</a:t>
            </a:r>
            <a:r>
              <a:rPr lang="en-CA" sz="1800" dirty="0"/>
              <a:t>', </a:t>
            </a:r>
            <a:r>
              <a:rPr lang="en-CA" sz="1800" dirty="0">
                <a:solidFill>
                  <a:srgbClr val="FF0000"/>
                </a:solidFill>
              </a:rPr>
              <a:t>'{replica}')</a:t>
            </a:r>
          </a:p>
          <a:p>
            <a:pPr marL="0" indent="0">
              <a:buNone/>
            </a:pPr>
            <a:r>
              <a:rPr lang="en-CA" sz="1800" dirty="0"/>
              <a:t>PARTITION BY </a:t>
            </a:r>
            <a:r>
              <a:rPr lang="en-CA" sz="1800" dirty="0" err="1"/>
              <a:t>toRelativeDayNum</a:t>
            </a:r>
            <a:r>
              <a:rPr lang="en-CA" sz="1800" dirty="0"/>
              <a:t>(</a:t>
            </a:r>
            <a:r>
              <a:rPr lang="en-CA" sz="1800" dirty="0" err="1"/>
              <a:t>timestampDate</a:t>
            </a:r>
            <a:r>
              <a:rPr lang="en-CA" sz="1800" dirty="0"/>
              <a:t>)</a:t>
            </a:r>
          </a:p>
          <a:p>
            <a:pPr marL="0" indent="0">
              <a:buNone/>
            </a:pPr>
            <a:r>
              <a:rPr lang="en-CA" sz="1800" dirty="0"/>
              <a:t>ORDER BY (</a:t>
            </a:r>
            <a:r>
              <a:rPr lang="en-CA" sz="1800" dirty="0" err="1"/>
              <a:t>client_id</a:t>
            </a:r>
            <a:r>
              <a:rPr lang="en-CA" sz="1800" dirty="0"/>
              <a:t>, timestamp)</a:t>
            </a:r>
          </a:p>
          <a:p>
            <a:pPr marL="0" indent="0">
              <a:buNone/>
            </a:pPr>
            <a:r>
              <a:rPr lang="en-CA" sz="1800" dirty="0"/>
              <a:t>SETTINGS </a:t>
            </a:r>
            <a:r>
              <a:rPr lang="en-CA" sz="1800" dirty="0" err="1"/>
              <a:t>index_granularity</a:t>
            </a:r>
            <a:r>
              <a:rPr lang="en-CA" sz="1800" dirty="0"/>
              <a:t>=8192;</a:t>
            </a:r>
          </a:p>
        </p:txBody>
      </p:sp>
    </p:spTree>
    <p:extLst>
      <p:ext uri="{BB962C8B-B14F-4D97-AF65-F5344CB8AC3E}">
        <p14:creationId xmlns:p14="http://schemas.microsoft.com/office/powerpoint/2010/main" val="732893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837</TotalTime>
  <Words>1005</Words>
  <Application>Microsoft Office PowerPoint</Application>
  <PresentationFormat>Widescreen</PresentationFormat>
  <Paragraphs>166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-apple-system</vt:lpstr>
      <vt:lpstr>Arial</vt:lpstr>
      <vt:lpstr>Calibri</vt:lpstr>
      <vt:lpstr>Calibri Light</vt:lpstr>
      <vt:lpstr>Consolas</vt:lpstr>
      <vt:lpstr>var(--vscode-editor-font-family, "SF Mono", Monaco, Menlo, Consolas, "Ubuntu Mono", "Liberation Mono", "DejaVu Sans Mono", "Courier New", monospace)</vt:lpstr>
      <vt:lpstr>Office Theme</vt:lpstr>
      <vt:lpstr>Build Simple ClickHouse Cluster on Fyre for Development </vt:lpstr>
      <vt:lpstr>Simple Cluster for Develop Purpose</vt:lpstr>
      <vt:lpstr>Get Machines on Fyre</vt:lpstr>
      <vt:lpstr>Install JDK and zookeeper</vt:lpstr>
      <vt:lpstr>Config Zookeeper</vt:lpstr>
      <vt:lpstr>Set the id for each machine</vt:lpstr>
      <vt:lpstr>Start zookeeper (on all 3 machines):</vt:lpstr>
      <vt:lpstr>Setup ClickHouse cluster </vt:lpstr>
      <vt:lpstr>Add config for cluster:</vt:lpstr>
      <vt:lpstr>Add zookeeper config:</vt:lpstr>
      <vt:lpstr>Add macros: ( used in sql )</vt:lpstr>
      <vt:lpstr>Start ClickHouse</vt:lpstr>
      <vt:lpstr>Create DB on cluster</vt:lpstr>
      <vt:lpstr>Create table on cluster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simple ClickHouse Cluster on Fyre for development </dc:title>
  <dc:creator>Yong Wang</dc:creator>
  <cp:lastModifiedBy>Yong Wang</cp:lastModifiedBy>
  <cp:revision>14</cp:revision>
  <dcterms:created xsi:type="dcterms:W3CDTF">2022-03-25T05:08:20Z</dcterms:created>
  <dcterms:modified xsi:type="dcterms:W3CDTF">2022-03-25T19:06:04Z</dcterms:modified>
</cp:coreProperties>
</file>